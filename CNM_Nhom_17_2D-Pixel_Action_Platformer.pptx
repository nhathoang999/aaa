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523" r:id="rId2"/>
    <p:sldId id="257" r:id="rId3"/>
    <p:sldId id="524" r:id="rId4"/>
    <p:sldId id="525" r:id="rId5"/>
    <p:sldId id="526" r:id="rId6"/>
    <p:sldId id="528" r:id="rId7"/>
    <p:sldId id="530" r:id="rId8"/>
    <p:sldId id="531" r:id="rId9"/>
    <p:sldId id="532" r:id="rId10"/>
    <p:sldId id="533" r:id="rId11"/>
    <p:sldId id="537" r:id="rId12"/>
    <p:sldId id="538" r:id="rId13"/>
    <p:sldId id="539" r:id="rId14"/>
    <p:sldId id="540" r:id="rId15"/>
    <p:sldId id="541" r:id="rId16"/>
    <p:sldId id="542" r:id="rId17"/>
    <p:sldId id="543" r:id="rId18"/>
    <p:sldId id="544" r:id="rId19"/>
    <p:sldId id="545" r:id="rId20"/>
    <p:sldId id="265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31E"/>
    <a:srgbClr val="0068A7"/>
    <a:srgbClr val="112C9F"/>
    <a:srgbClr val="153898"/>
    <a:srgbClr val="4D3F7A"/>
    <a:srgbClr val="152499"/>
    <a:srgbClr val="3148B2"/>
    <a:srgbClr val="101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753"/>
  </p:normalViewPr>
  <p:slideViewPr>
    <p:cSldViewPr snapToGrid="0">
      <p:cViewPr varScale="1">
        <p:scale>
          <a:sx n="76" d="100"/>
          <a:sy n="76" d="100"/>
        </p:scale>
        <p:origin x="21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556BC-474A-4F26-8D5C-AA626EF2DB7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ECBEB-6394-47B2-B7D2-D3768A026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4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87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6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49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21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8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2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10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1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00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41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86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44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1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ECBEB-6394-47B2-B7D2-D3768A0265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7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ECBEB-6394-47B2-B7D2-D3768A0265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947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ECBEB-6394-47B2-B7D2-D3768A0265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992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ECBEB-6394-47B2-B7D2-D3768A0265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129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83329-12AD-3CC9-9801-6E0952EB7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928D1-4BE9-BD07-A8F3-091446E9B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9C184-BCCB-08A5-6464-EF550FE8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CBFB6-6547-4CB1-E511-6A3B9F9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57E1D-1BCB-CE98-8A04-ACFA6FFF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7" name="Picture 6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81688331-8EAB-377B-7794-065A5F6983F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4136" y="333337"/>
            <a:ext cx="2253016" cy="64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7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0503-7801-0CEF-5313-4B79709C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605"/>
            <a:ext cx="10515600" cy="643083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1C79-270B-9E84-21FF-FC47D521E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47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08E38-7888-EB41-D3FD-E82DEEDB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0A93A-CAF6-710E-CD37-69A7F172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41CB-FED9-3D78-9FA5-4FE15DF7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24BE1B-77D5-4C3C-E7C0-12C7F4C8853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  <p:pic>
        <p:nvPicPr>
          <p:cNvPr id="8" name="Picture 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9DF21CC-7EC9-1FCF-120A-5DC5175418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3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8ABD-EA75-76B5-021F-FAF72FF84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15464"/>
            <a:ext cx="10515600" cy="2613025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E2207-CCCC-3677-44C1-961D14865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72764"/>
            <a:ext cx="10515600" cy="1769772"/>
          </a:xfrm>
        </p:spPr>
        <p:txBody>
          <a:bodyPr/>
          <a:lstStyle>
            <a:lvl1pPr marL="0" indent="0">
              <a:buNone/>
              <a:defRPr sz="2400">
                <a:solidFill>
                  <a:srgbClr val="15389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A212A-1BA5-B849-530E-AB24C18B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CB57C-201B-BCB2-6D07-240B26FC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3520D-CEEB-3339-FD66-7EB523F7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8" name="Picture 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499D7A1C-EEC8-B25A-8089-83F0A8849386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D6E9A-FF30-B81E-1CEB-E9EB7DB9BD8D}"/>
              </a:ext>
            </a:extLst>
          </p:cNvPr>
          <p:cNvPicPr>
            <a:picLocks/>
          </p:cNvPicPr>
          <p:nvPr userDrawn="1"/>
        </p:nvPicPr>
        <p:blipFill>
          <a:blip r:embed="rId4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4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C732-6F54-1C9D-FA88-345AFBF3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47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8234D-CD0A-F7C1-8DBD-24856D424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6695"/>
            <a:ext cx="5181600" cy="380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69009-A193-8353-9F98-D13550C0E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6695"/>
            <a:ext cx="5181600" cy="380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9F0AF-6A53-2336-DCBA-AC9765ED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3090A-E80D-E0E2-D357-82461085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27E4A-94A5-E002-2A01-D7B6D071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038DF0-1DF7-55D1-368C-20E60764D50F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D2F32-0989-CC83-F12B-E79F851D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15818"/>
            <a:ext cx="10515600" cy="9748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6ECCB-F134-4F2A-710C-3545D52A8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0ECA3-B67F-D989-159C-E941DF216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29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66464-A730-81CD-7277-0E050619A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96402-A6CD-3A2F-A443-4D50501BA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290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57140-E587-1196-BFA9-555DB7B58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B9F2F3-2594-A8ED-2D63-F56D8B59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D92BB-7CAB-0C5A-D84E-4B83605D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36FDB6-CC22-87DB-1386-66EA1D614247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0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1584-1668-8245-A72C-22AD5579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903"/>
            <a:ext cx="10515600" cy="8627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68BA5-22E3-8702-5B32-F6A051A4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419"/>
            <a:ext cx="27432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11F23-EBAC-0085-24D0-301679DC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6419"/>
            <a:ext cx="41148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5F0708-8F72-81F8-6F21-E040DFE8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66419"/>
            <a:ext cx="2743200" cy="365125"/>
          </a:xfrm>
        </p:spPr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6" name="Picture 5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37E83500-897F-C483-465A-CFE22D8C18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0255" y="135018"/>
            <a:ext cx="1827489" cy="52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4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A52C8A-AB99-2960-8460-ECA4563C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320C-3BD4-7A46-BB0D-DD06EFE4D1FD}" type="datetimeFigureOut">
              <a:t>12/16/2025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BF59D-270E-A4A4-EC95-90D89DAC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E6D90-6012-B11A-1E9F-15523E81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4534-DCC9-AC4A-9A73-8E199DA7669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6470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ACF10-8FDB-25C6-C977-A2D3783C3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1599F-915A-7BF1-AA24-82B67C9B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73670-68A1-7B2E-A704-FBF29750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1C8B7-0056-DADF-EBCC-D7C34FE6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320C-3BD4-7A46-BB0D-DD06EFE4D1FD}" type="datetimeFigureOut">
              <a:t>12/16/2025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389D1-E0AE-79C4-3720-71FE69B1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570F2-3286-BFCC-E23D-9A662C76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4534-DCC9-AC4A-9A73-8E199DA7669E}" type="slidenum">
              <a:t>‹#›</a:t>
            </a:fld>
            <a:endParaRPr lang="en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39C514-EDFD-BA61-6DE9-2912A0859D89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9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5F8D-08D0-CEC7-8FDD-6C28309E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72EF4-C6ED-DA53-EB88-4035D1213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1B85B-B625-788A-E411-6E61CAEC4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1AD7C-8DC3-023A-AAEF-64762DA5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6320C-3BD4-7A46-BB0D-DD06EFE4D1FD}" type="datetimeFigureOut">
              <a:t>12/16/2025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C1E23-D432-5555-4464-4F21C14E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01AA-7DA1-9D0D-311E-97DCBC16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24534-DCC9-AC4A-9A73-8E199DA7669E}" type="slidenum">
              <a:t>‹#›</a:t>
            </a:fld>
            <a:endParaRPr lang="en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7F5FB-9867-827C-5865-C05ABA1B9DA1}"/>
              </a:ext>
            </a:extLst>
          </p:cNvPr>
          <p:cNvPicPr>
            <a:picLocks/>
          </p:cNvPicPr>
          <p:nvPr userDrawn="1"/>
        </p:nvPicPr>
        <p:blipFill>
          <a:blip r:embed="rId3"/>
          <a:srcRect/>
          <a:stretch/>
        </p:blipFill>
        <p:spPr>
          <a:xfrm flipV="1">
            <a:off x="7766095" y="614191"/>
            <a:ext cx="3587705" cy="24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4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1310-7263-A0F0-7E5F-6C9F6D0F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86D83-79BB-0D15-4734-C6FD0412D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0438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BFA15-EDA9-CB89-3684-0630FBD9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CF86F-DD53-E80A-166B-A19F955F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0A3-557C-D46E-28F0-6E672030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4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63EB6-40D1-3CD2-2BDD-FF1340FCE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4"/>
            <a:ext cx="2628900" cy="5479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B6016-EBDE-559A-3946-A1B0F396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4"/>
            <a:ext cx="7734300" cy="5479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BE942-8071-ADCF-1054-E6982B985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F0A8A-0F39-2EB5-0CE5-19BF9D0A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B33EC-96CD-4EF4-56C9-27C91DE5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427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3EE6-12D5-4EA1-FE5B-D3CEB57C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3227"/>
            <a:ext cx="514247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8AB10-94C8-57BF-4111-583D4667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3B493-9469-A0D9-8508-9985A8F8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E3ABF-5BA3-B4DA-B2F3-35CE40D4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F Pro Display Medium" panose="02000000000000000000" pitchFamily="2" charset="0"/>
                <a:ea typeface="SF Pro Display Medium" panose="02000000000000000000" pitchFamily="2" charset="0"/>
                <a:cs typeface="SF Pro Display Medium" panose="02000000000000000000" pitchFamily="2" charset="0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SF Pro Display Medium" panose="02000000000000000000" pitchFamily="2" charset="0"/>
              <a:ea typeface="SF Pro Display Medium" panose="02000000000000000000" pitchFamily="2" charset="0"/>
              <a:cs typeface="SF Pro Display Medium" panose="02000000000000000000" pitchFamily="2" charset="0"/>
            </a:endParaRPr>
          </a:p>
        </p:txBody>
      </p:sp>
      <p:pic>
        <p:nvPicPr>
          <p:cNvPr id="7" name="Picture 6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F81D8CC6-65DA-88CE-976B-C090996F27F7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444136" y="333337"/>
            <a:ext cx="3301388" cy="94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7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C6E59-C27C-3F67-A6A0-26E79B30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C4D0C-2025-1CE4-B5B6-5EDACB94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10F2-1C82-8C19-DF26-F7277622F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fld id="{E626320C-3BD4-7A46-BB0D-DD06EFE4D1FD}" type="datetimeFigureOut">
              <a:rPr lang="en-VN"/>
              <a:pPr/>
              <a:t>12/16/2025</a:t>
            </a:fld>
            <a:endParaRPr lang="en-VN">
              <a:latin typeface="Bai Jamjuree Medium" pitchFamily="2" charset="-34"/>
              <a:cs typeface="Bai Jamjuree Medium" pitchFamily="2" charset="-34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6432B-12A8-B4CB-17C4-CC522D997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endParaRPr lang="en-VN">
              <a:latin typeface="Bai Jamjuree Medium" pitchFamily="2" charset="-34"/>
              <a:cs typeface="Bai Jamjuree Medium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02B41-1872-9DF2-D9BE-56D9242DA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Bai Jamjuree Medium" pitchFamily="2" charset="-34"/>
                <a:cs typeface="Bai Jamjuree Medium" pitchFamily="2" charset="-34"/>
              </a:defRPr>
            </a:lvl1pPr>
          </a:lstStyle>
          <a:p>
            <a:fld id="{2B924534-DCC9-AC4A-9A73-8E199DA7669E}" type="slidenum">
              <a:rPr lang="en-VN"/>
              <a:pPr/>
              <a:t>‹#›</a:t>
            </a:fld>
            <a:endParaRPr lang="en-VN">
              <a:latin typeface="Bai Jamjuree Medium" pitchFamily="2" charset="-34"/>
              <a:cs typeface="Bai Jamjuree Medium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6203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53898"/>
          </a:solidFill>
          <a:latin typeface="Bai Jamjuree" pitchFamily="2" charset="-34"/>
          <a:ea typeface="SF Pro Display" panose="02000000000000000000" pitchFamily="2" charset="0"/>
          <a:cs typeface="Bai Jamjuree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3898"/>
          </a:solidFill>
          <a:latin typeface="SF Pro Display Medium" panose="02000000000000000000" pitchFamily="2" charset="0"/>
          <a:ea typeface="SF Pro Display Medium" panose="02000000000000000000" pitchFamily="2" charset="0"/>
          <a:cs typeface="SF Pro Display Medium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523C6C-6BC8-5D6C-97BF-B5284D7C3E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DD368D-040E-2E46-5B3E-E17B76FE966D}"/>
              </a:ext>
            </a:extLst>
          </p:cNvPr>
          <p:cNvGrpSpPr/>
          <p:nvPr/>
        </p:nvGrpSpPr>
        <p:grpSpPr>
          <a:xfrm>
            <a:off x="-1152735" y="1248773"/>
            <a:ext cx="5932740" cy="7343305"/>
            <a:chOff x="-1152735" y="1248773"/>
            <a:chExt cx="5932740" cy="7343305"/>
          </a:xfrm>
        </p:grpSpPr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04D954E5-2CB5-F136-343B-C34C16FBBC8F}"/>
                </a:ext>
              </a:extLst>
            </p:cNvPr>
            <p:cNvSpPr/>
            <p:nvPr/>
          </p:nvSpPr>
          <p:spPr>
            <a:xfrm rot="18354296">
              <a:off x="1262649" y="2205615"/>
              <a:ext cx="1851709" cy="1625755"/>
            </a:xfrm>
            <a:prstGeom prst="chevron">
              <a:avLst>
                <a:gd name="adj" fmla="val 21538"/>
              </a:avLst>
            </a:prstGeom>
            <a:solidFill>
              <a:srgbClr val="3148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1457D845-690C-5C54-5E2B-0959B43E9119}"/>
                </a:ext>
              </a:extLst>
            </p:cNvPr>
            <p:cNvSpPr/>
            <p:nvPr/>
          </p:nvSpPr>
          <p:spPr>
            <a:xfrm rot="18354296">
              <a:off x="639581" y="3912500"/>
              <a:ext cx="1078688" cy="949038"/>
            </a:xfrm>
            <a:prstGeom prst="chevron">
              <a:avLst>
                <a:gd name="adj" fmla="val 21538"/>
              </a:avLst>
            </a:prstGeom>
            <a:solidFill>
              <a:srgbClr val="112C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1EF25380-FFB6-728F-F0D7-186F87CD9B21}"/>
                </a:ext>
              </a:extLst>
            </p:cNvPr>
            <p:cNvSpPr/>
            <p:nvPr/>
          </p:nvSpPr>
          <p:spPr>
            <a:xfrm rot="18354296">
              <a:off x="209405" y="4978672"/>
              <a:ext cx="691746" cy="605536"/>
            </a:xfrm>
            <a:prstGeom prst="chevron">
              <a:avLst>
                <a:gd name="adj" fmla="val 21538"/>
              </a:avLst>
            </a:prstGeom>
            <a:solidFill>
              <a:srgbClr val="4D3F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9D7463A3-74B3-886D-6CD3-B2F5609F3568}"/>
                </a:ext>
              </a:extLst>
            </p:cNvPr>
            <p:cNvSpPr/>
            <p:nvPr/>
          </p:nvSpPr>
          <p:spPr>
            <a:xfrm rot="20550953">
              <a:off x="2881364" y="4377553"/>
              <a:ext cx="1851709" cy="1625755"/>
            </a:xfrm>
            <a:prstGeom prst="chevron">
              <a:avLst>
                <a:gd name="adj" fmla="val 21538"/>
              </a:avLst>
            </a:prstGeom>
            <a:solidFill>
              <a:srgbClr val="3148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EB8746A9-BBF4-B1EB-00E4-66A172F1F07F}"/>
                </a:ext>
              </a:extLst>
            </p:cNvPr>
            <p:cNvSpPr/>
            <p:nvPr/>
          </p:nvSpPr>
          <p:spPr>
            <a:xfrm rot="20550953">
              <a:off x="1641323" y="5212341"/>
              <a:ext cx="1078688" cy="949038"/>
            </a:xfrm>
            <a:prstGeom prst="chevron">
              <a:avLst>
                <a:gd name="adj" fmla="val 21538"/>
              </a:avLst>
            </a:prstGeom>
            <a:solidFill>
              <a:srgbClr val="112C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0ECBAC7F-05B2-5AFD-0F31-3BEC985BDC9F}"/>
                </a:ext>
              </a:extLst>
            </p:cNvPr>
            <p:cNvSpPr/>
            <p:nvPr/>
          </p:nvSpPr>
          <p:spPr>
            <a:xfrm rot="20550953">
              <a:off x="800777" y="5730118"/>
              <a:ext cx="691746" cy="605536"/>
            </a:xfrm>
            <a:prstGeom prst="chevron">
              <a:avLst>
                <a:gd name="adj" fmla="val 21538"/>
              </a:avLst>
            </a:prstGeom>
            <a:solidFill>
              <a:srgbClr val="4D3F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14902074-6CF6-B93E-BC3E-1820CDFF60A2}"/>
                </a:ext>
              </a:extLst>
            </p:cNvPr>
            <p:cNvSpPr/>
            <p:nvPr/>
          </p:nvSpPr>
          <p:spPr>
            <a:xfrm rot="898162">
              <a:off x="2928296" y="6966323"/>
              <a:ext cx="1851709" cy="1625755"/>
            </a:xfrm>
            <a:prstGeom prst="chevron">
              <a:avLst>
                <a:gd name="adj" fmla="val 21538"/>
              </a:avLst>
            </a:prstGeom>
            <a:solidFill>
              <a:srgbClr val="3148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D6088306-6763-27AB-5DA4-42500EF81A28}"/>
                </a:ext>
              </a:extLst>
            </p:cNvPr>
            <p:cNvSpPr/>
            <p:nvPr/>
          </p:nvSpPr>
          <p:spPr>
            <a:xfrm rot="898162">
              <a:off x="1675886" y="6850751"/>
              <a:ext cx="1078688" cy="949038"/>
            </a:xfrm>
            <a:prstGeom prst="chevron">
              <a:avLst>
                <a:gd name="adj" fmla="val 21538"/>
              </a:avLst>
            </a:prstGeom>
            <a:solidFill>
              <a:srgbClr val="112C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D21EA0A2-FC26-DE14-C12B-F50DAAA2F6B6}"/>
                </a:ext>
              </a:extLst>
            </p:cNvPr>
            <p:cNvSpPr/>
            <p:nvPr/>
          </p:nvSpPr>
          <p:spPr>
            <a:xfrm rot="898162">
              <a:off x="811143" y="6759619"/>
              <a:ext cx="691746" cy="605536"/>
            </a:xfrm>
            <a:prstGeom prst="chevron">
              <a:avLst>
                <a:gd name="adj" fmla="val 21538"/>
              </a:avLst>
            </a:prstGeom>
            <a:solidFill>
              <a:srgbClr val="4D3F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6F372D10-22A8-1F93-FD22-DD4D78029F4C}"/>
                </a:ext>
              </a:extLst>
            </p:cNvPr>
            <p:cNvSpPr/>
            <p:nvPr/>
          </p:nvSpPr>
          <p:spPr>
            <a:xfrm rot="16270821">
              <a:off x="-1265712" y="1361750"/>
              <a:ext cx="1851709" cy="1625755"/>
            </a:xfrm>
            <a:prstGeom prst="chevron">
              <a:avLst>
                <a:gd name="adj" fmla="val 21538"/>
              </a:avLst>
            </a:prstGeom>
            <a:solidFill>
              <a:srgbClr val="3148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21915D19-97D4-F0F5-5D40-66CDDAC51180}"/>
                </a:ext>
              </a:extLst>
            </p:cNvPr>
            <p:cNvSpPr/>
            <p:nvPr/>
          </p:nvSpPr>
          <p:spPr>
            <a:xfrm rot="16270821">
              <a:off x="-929417" y="3399988"/>
              <a:ext cx="1078688" cy="949038"/>
            </a:xfrm>
            <a:prstGeom prst="chevron">
              <a:avLst>
                <a:gd name="adj" fmla="val 21538"/>
              </a:avLst>
            </a:prstGeom>
            <a:solidFill>
              <a:srgbClr val="112C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DA6700DD-10D1-F30E-0343-A9F28AF4C298}"/>
                </a:ext>
              </a:extLst>
            </p:cNvPr>
            <p:cNvSpPr/>
            <p:nvPr/>
          </p:nvSpPr>
          <p:spPr>
            <a:xfrm rot="16270821">
              <a:off x="-739031" y="4662113"/>
              <a:ext cx="691746" cy="605536"/>
            </a:xfrm>
            <a:prstGeom prst="chevron">
              <a:avLst>
                <a:gd name="adj" fmla="val 21538"/>
              </a:avLst>
            </a:prstGeom>
            <a:solidFill>
              <a:srgbClr val="4D3F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09B92-7613-CD5D-06D3-0F241CAE44ED}"/>
              </a:ext>
            </a:extLst>
          </p:cNvPr>
          <p:cNvGrpSpPr/>
          <p:nvPr/>
        </p:nvGrpSpPr>
        <p:grpSpPr>
          <a:xfrm>
            <a:off x="9143176" y="-36431"/>
            <a:ext cx="3320379" cy="2929004"/>
            <a:chOff x="9143176" y="-36431"/>
            <a:chExt cx="3320379" cy="2929004"/>
          </a:xfrm>
        </p:grpSpPr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1996403E-F835-BEE0-81E8-91A897BE90E0}"/>
                </a:ext>
              </a:extLst>
            </p:cNvPr>
            <p:cNvSpPr/>
            <p:nvPr/>
          </p:nvSpPr>
          <p:spPr>
            <a:xfrm rot="20488913" flipH="1">
              <a:off x="9143176" y="159349"/>
              <a:ext cx="1046556" cy="924193"/>
            </a:xfrm>
            <a:prstGeom prst="chevron">
              <a:avLst>
                <a:gd name="adj" fmla="val 21538"/>
              </a:avLst>
            </a:prstGeom>
            <a:solidFill>
              <a:srgbClr val="152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06D9C7CD-B073-F047-1A5F-9FC12CE1A318}"/>
                </a:ext>
              </a:extLst>
            </p:cNvPr>
            <p:cNvSpPr/>
            <p:nvPr/>
          </p:nvSpPr>
          <p:spPr>
            <a:xfrm rot="20481917" flipH="1">
              <a:off x="10216603" y="33828"/>
              <a:ext cx="662546" cy="573860"/>
            </a:xfrm>
            <a:prstGeom prst="chevron">
              <a:avLst>
                <a:gd name="adj" fmla="val 21538"/>
              </a:avLst>
            </a:prstGeom>
            <a:solidFill>
              <a:srgbClr val="112C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08E2444F-34FA-F634-28C2-E3A1EE406680}"/>
                </a:ext>
              </a:extLst>
            </p:cNvPr>
            <p:cNvSpPr/>
            <p:nvPr/>
          </p:nvSpPr>
          <p:spPr>
            <a:xfrm rot="20585604" flipH="1">
              <a:off x="10969373" y="-36431"/>
              <a:ext cx="390227" cy="331046"/>
            </a:xfrm>
            <a:prstGeom prst="chevron">
              <a:avLst>
                <a:gd name="adj" fmla="val 21538"/>
              </a:avLst>
            </a:prstGeom>
            <a:solidFill>
              <a:srgbClr val="4D3F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57E2A4BC-7742-C8DD-BC30-68E112E74D0B}"/>
                </a:ext>
              </a:extLst>
            </p:cNvPr>
            <p:cNvSpPr/>
            <p:nvPr/>
          </p:nvSpPr>
          <p:spPr>
            <a:xfrm rot="18051880" flipH="1">
              <a:off x="10177561" y="1460281"/>
              <a:ext cx="1046556" cy="924193"/>
            </a:xfrm>
            <a:prstGeom prst="chevron">
              <a:avLst>
                <a:gd name="adj" fmla="val 21538"/>
              </a:avLst>
            </a:prstGeom>
            <a:solidFill>
              <a:srgbClr val="152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5FFC6CB4-F113-ABA6-842A-079EDC23109A}"/>
                </a:ext>
              </a:extLst>
            </p:cNvPr>
            <p:cNvSpPr/>
            <p:nvPr/>
          </p:nvSpPr>
          <p:spPr>
            <a:xfrm rot="18044884" flipH="1">
              <a:off x="10842884" y="833395"/>
              <a:ext cx="662546" cy="573860"/>
            </a:xfrm>
            <a:prstGeom prst="chevron">
              <a:avLst>
                <a:gd name="adj" fmla="val 21538"/>
              </a:avLst>
            </a:prstGeom>
            <a:solidFill>
              <a:srgbClr val="112C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27623AA0-2A48-772B-4874-4B77B88D5F15}"/>
                </a:ext>
              </a:extLst>
            </p:cNvPr>
            <p:cNvSpPr/>
            <p:nvPr/>
          </p:nvSpPr>
          <p:spPr>
            <a:xfrm rot="18148571" flipH="1">
              <a:off x="11322323" y="407899"/>
              <a:ext cx="390227" cy="331046"/>
            </a:xfrm>
            <a:prstGeom prst="chevron">
              <a:avLst>
                <a:gd name="adj" fmla="val 21538"/>
              </a:avLst>
            </a:prstGeom>
            <a:solidFill>
              <a:srgbClr val="4D3F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Arrow: Chevron 22">
              <a:extLst>
                <a:ext uri="{FF2B5EF4-FFF2-40B4-BE49-F238E27FC236}">
                  <a16:creationId xmlns:a16="http://schemas.microsoft.com/office/drawing/2014/main" id="{4511B409-0ECA-3BF9-4D7C-26249A94859D}"/>
                </a:ext>
              </a:extLst>
            </p:cNvPr>
            <p:cNvSpPr/>
            <p:nvPr/>
          </p:nvSpPr>
          <p:spPr>
            <a:xfrm rot="16281274" flipH="1">
              <a:off x="11478181" y="1907198"/>
              <a:ext cx="1046556" cy="924193"/>
            </a:xfrm>
            <a:prstGeom prst="chevron">
              <a:avLst>
                <a:gd name="adj" fmla="val 21538"/>
              </a:avLst>
            </a:prstGeom>
            <a:solidFill>
              <a:srgbClr val="1524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5A4FBD21-62DE-1AE3-DC69-8FC09AE5DFBB}"/>
                </a:ext>
              </a:extLst>
            </p:cNvPr>
            <p:cNvSpPr/>
            <p:nvPr/>
          </p:nvSpPr>
          <p:spPr>
            <a:xfrm rot="16274278" flipH="1">
              <a:off x="11687028" y="1151218"/>
              <a:ext cx="662546" cy="573860"/>
            </a:xfrm>
            <a:prstGeom prst="chevron">
              <a:avLst>
                <a:gd name="adj" fmla="val 21538"/>
              </a:avLst>
            </a:prstGeom>
            <a:solidFill>
              <a:srgbClr val="112C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CF08ADC8-E1A9-AD47-3DF0-5A2B3A1EDDCD}"/>
                </a:ext>
              </a:extLst>
            </p:cNvPr>
            <p:cNvSpPr/>
            <p:nvPr/>
          </p:nvSpPr>
          <p:spPr>
            <a:xfrm rot="16377965" flipH="1">
              <a:off x="11852540" y="627580"/>
              <a:ext cx="390227" cy="331046"/>
            </a:xfrm>
            <a:prstGeom prst="chevron">
              <a:avLst>
                <a:gd name="adj" fmla="val 21538"/>
              </a:avLst>
            </a:prstGeom>
            <a:solidFill>
              <a:srgbClr val="4D3F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6" name="Picture 25" descr="White text on a black background&#10;&#10;AI-generated content may be incorrect.">
            <a:extLst>
              <a:ext uri="{FF2B5EF4-FFF2-40B4-BE49-F238E27FC236}">
                <a16:creationId xmlns:a16="http://schemas.microsoft.com/office/drawing/2014/main" id="{F175B58A-0FA8-6DD1-DD75-D1AE144DB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56" y="330830"/>
            <a:ext cx="2265304" cy="645594"/>
          </a:xfrm>
          <a:prstGeom prst="rect">
            <a:avLst/>
          </a:prstGeom>
        </p:spPr>
      </p:pic>
      <p:sp>
        <p:nvSpPr>
          <p:cNvPr id="42" name="Hộp Văn bản 11">
            <a:extLst>
              <a:ext uri="{FF2B5EF4-FFF2-40B4-BE49-F238E27FC236}">
                <a16:creationId xmlns:a16="http://schemas.microsoft.com/office/drawing/2014/main" id="{BA3178D6-CBB5-D18F-95E6-15D57DD89419}"/>
              </a:ext>
            </a:extLst>
          </p:cNvPr>
          <p:cNvSpPr txBox="1"/>
          <p:nvPr/>
        </p:nvSpPr>
        <p:spPr>
          <a:xfrm>
            <a:off x="2250646" y="2979065"/>
            <a:ext cx="79615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vi-VN"/>
            </a:defPPr>
            <a:lvl1pPr>
              <a:defRPr sz="5400" b="1" i="1" spc="300">
                <a:ln w="15875">
                  <a:solidFill>
                    <a:srgbClr val="E1BC6F"/>
                  </a:solidFill>
                </a:ln>
                <a:solidFill>
                  <a:srgbClr val="D0AA64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b="1" i="0" u="none" strike="noStrike" kern="1200" cap="all" spc="300" normalizeH="0" baseline="0" noProof="0">
                <a:ln w="158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2D PIXEL ACTION PLATFORMER</a:t>
            </a:r>
            <a:endParaRPr kumimoji="0" lang="vi-VN" b="1" i="1" u="none" strike="noStrike" kern="1200" cap="none" spc="300" normalizeH="0" baseline="0" noProof="0" dirty="0">
              <a:ln w="15875">
                <a:solidFill>
                  <a:srgbClr val="E1BC6F"/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7" name="Hình chữ nhật 37">
            <a:extLst>
              <a:ext uri="{FF2B5EF4-FFF2-40B4-BE49-F238E27FC236}">
                <a16:creationId xmlns:a16="http://schemas.microsoft.com/office/drawing/2014/main" id="{76B9A72A-1F97-C581-C198-3222D0268B57}"/>
              </a:ext>
            </a:extLst>
          </p:cNvPr>
          <p:cNvSpPr/>
          <p:nvPr/>
        </p:nvSpPr>
        <p:spPr>
          <a:xfrm>
            <a:off x="2047653" y="2939618"/>
            <a:ext cx="8357880" cy="9843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6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48" name="Hộp Văn bản 7">
            <a:extLst>
              <a:ext uri="{FF2B5EF4-FFF2-40B4-BE49-F238E27FC236}">
                <a16:creationId xmlns:a16="http://schemas.microsoft.com/office/drawing/2014/main" id="{3EC98976-8D46-EB80-944B-BBB70E5B1CE9}"/>
              </a:ext>
            </a:extLst>
          </p:cNvPr>
          <p:cNvSpPr txBox="1"/>
          <p:nvPr/>
        </p:nvSpPr>
        <p:spPr>
          <a:xfrm>
            <a:off x="3016091" y="560965"/>
            <a:ext cx="3145413" cy="369332"/>
          </a:xfrm>
          <a:prstGeom prst="rect">
            <a:avLst/>
          </a:prstGeom>
          <a:solidFill>
            <a:srgbClr val="3148B2"/>
          </a:solidFill>
          <a:ln>
            <a:solidFill>
              <a:srgbClr val="112C9F"/>
            </a:solidFill>
          </a:ln>
        </p:spPr>
        <p:txBody>
          <a:bodyPr wrap="none" rtlCol="0">
            <a:spAutoFit/>
          </a:bodyPr>
          <a:lstStyle>
            <a:defPPr>
              <a:defRPr lang="vi-VN"/>
            </a:defPPr>
            <a:lvl1pPr algn="ctr">
              <a:defRPr sz="160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GVHD: Th.S NGUYỄN NGỌC LỄ</a:t>
            </a:r>
          </a:p>
        </p:txBody>
      </p:sp>
      <p:sp>
        <p:nvSpPr>
          <p:cNvPr id="49" name="Hộp Văn bản 51">
            <a:extLst>
              <a:ext uri="{FF2B5EF4-FFF2-40B4-BE49-F238E27FC236}">
                <a16:creationId xmlns:a16="http://schemas.microsoft.com/office/drawing/2014/main" id="{AD4E9EEB-9467-9C4C-BF92-14E54180B3F5}"/>
              </a:ext>
            </a:extLst>
          </p:cNvPr>
          <p:cNvSpPr txBox="1"/>
          <p:nvPr/>
        </p:nvSpPr>
        <p:spPr>
          <a:xfrm>
            <a:off x="7257481" y="5071689"/>
            <a:ext cx="4540847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TRƯỜNG ĐẠI HỌC CÔNG NGHIỆP TP.HCM</a:t>
            </a:r>
            <a:endParaRPr kumimoji="0" lang="vi-V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Hộp Văn bản 52">
            <a:extLst>
              <a:ext uri="{FF2B5EF4-FFF2-40B4-BE49-F238E27FC236}">
                <a16:creationId xmlns:a16="http://schemas.microsoft.com/office/drawing/2014/main" id="{423AE44B-2900-5BA3-1B9B-E56A76AD911E}"/>
              </a:ext>
            </a:extLst>
          </p:cNvPr>
          <p:cNvSpPr txBox="1"/>
          <p:nvPr/>
        </p:nvSpPr>
        <p:spPr>
          <a:xfrm>
            <a:off x="7282880" y="5546428"/>
            <a:ext cx="43072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CÔNG NGHỆ MỚI TRONG PHÁT TRIỂN ỨNG DỤNG CNTT</a:t>
            </a:r>
          </a:p>
        </p:txBody>
      </p:sp>
      <p:pic>
        <p:nvPicPr>
          <p:cNvPr id="51" name="Graphic 50" descr="Blog with solid fill">
            <a:extLst>
              <a:ext uri="{FF2B5EF4-FFF2-40B4-BE49-F238E27FC236}">
                <a16:creationId xmlns:a16="http://schemas.microsoft.com/office/drawing/2014/main" id="{BB6BF6C5-0A00-F4A0-B31B-96BAC58263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4042" y="5544754"/>
            <a:ext cx="315300" cy="280343"/>
          </a:xfrm>
          <a:prstGeom prst="rect">
            <a:avLst/>
          </a:prstGeom>
        </p:spPr>
      </p:pic>
      <p:pic>
        <p:nvPicPr>
          <p:cNvPr id="52" name="Graphic 51" descr="Building with solid fill">
            <a:extLst>
              <a:ext uri="{FF2B5EF4-FFF2-40B4-BE49-F238E27FC236}">
                <a16:creationId xmlns:a16="http://schemas.microsoft.com/office/drawing/2014/main" id="{F5C98108-AE55-9358-47B4-FCBCE91809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3521" y="5048002"/>
            <a:ext cx="383952" cy="2991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51E9DC-EE9C-3A95-2EAB-AFA51B34F3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7598380"/>
            <a:ext cx="12192000" cy="924793"/>
          </a:xfrm>
          <a:prstGeom prst="rect">
            <a:avLst/>
          </a:prstGeom>
        </p:spPr>
      </p:pic>
      <p:pic>
        <p:nvPicPr>
          <p:cNvPr id="28" name="Picture 2" descr="Đăng nhập">
            <a:extLst>
              <a:ext uri="{FF2B5EF4-FFF2-40B4-BE49-F238E27FC236}">
                <a16:creationId xmlns:a16="http://schemas.microsoft.com/office/drawing/2014/main" id="{BB1698DA-33A0-3D0E-1E17-F771507B2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45729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93AAA3A-078A-92E0-109A-018BEB019B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52974" y="661877"/>
            <a:ext cx="3602567" cy="155741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29446D8E-3EAB-851F-9FE7-45E091B6B08E}"/>
              </a:ext>
            </a:extLst>
          </p:cNvPr>
          <p:cNvGrpSpPr/>
          <p:nvPr/>
        </p:nvGrpSpPr>
        <p:grpSpPr>
          <a:xfrm>
            <a:off x="-15661076" y="16545208"/>
            <a:ext cx="3210541" cy="1988182"/>
            <a:chOff x="668337" y="1261951"/>
            <a:chExt cx="2451159" cy="1296002"/>
          </a:xfrm>
        </p:grpSpPr>
        <p:sp>
          <p:nvSpPr>
            <p:cNvPr id="56" name="Hình chữ nhật 17">
              <a:extLst>
                <a:ext uri="{FF2B5EF4-FFF2-40B4-BE49-F238E27FC236}">
                  <a16:creationId xmlns:a16="http://schemas.microsoft.com/office/drawing/2014/main" id="{4BC126DA-97EA-5806-BCB5-C6C01FBA4B02}"/>
                </a:ext>
              </a:extLst>
            </p:cNvPr>
            <p:cNvSpPr/>
            <p:nvPr/>
          </p:nvSpPr>
          <p:spPr>
            <a:xfrm rot="5400000">
              <a:off x="1221526" y="708762"/>
              <a:ext cx="1296002" cy="2402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42786D5-9D2B-F67A-25C8-23C9C6FF99F0}"/>
                </a:ext>
              </a:extLst>
            </p:cNvPr>
            <p:cNvSpPr txBox="1"/>
            <p:nvPr/>
          </p:nvSpPr>
          <p:spPr>
            <a:xfrm>
              <a:off x="717116" y="1433815"/>
              <a:ext cx="24023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HUỲNH NHẬT HOÀNG </a:t>
              </a:r>
              <a:endParaRPr kumimoji="0" lang="vi-V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DFB898D-0B50-E1D7-505E-1536B1176B4E}"/>
                </a:ext>
              </a:extLst>
            </p:cNvPr>
            <p:cNvSpPr txBox="1"/>
            <p:nvPr/>
          </p:nvSpPr>
          <p:spPr>
            <a:xfrm>
              <a:off x="668337" y="1740345"/>
              <a:ext cx="2402380" cy="62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MSSV: 22666731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NHIỆM VỤ: chương 1</a:t>
              </a:r>
              <a:endParaRPr kumimoji="0" lang="vi-VN" sz="2800" b="0" i="0" u="none" strike="noStrike" kern="1200" cap="none" spc="0" normalizeH="0" baseline="0" noProof="0" dirty="0">
                <a:ln>
                  <a:noFill/>
                </a:ln>
                <a:solidFill>
                  <a:srgbClr val="153898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0EB9389-F66A-CA4B-6753-51B5E4CCD82D}"/>
              </a:ext>
            </a:extLst>
          </p:cNvPr>
          <p:cNvGrpSpPr/>
          <p:nvPr/>
        </p:nvGrpSpPr>
        <p:grpSpPr>
          <a:xfrm>
            <a:off x="-10901238" y="13148865"/>
            <a:ext cx="3210541" cy="1988182"/>
            <a:chOff x="668337" y="1261951"/>
            <a:chExt cx="2451159" cy="1296002"/>
          </a:xfrm>
        </p:grpSpPr>
        <p:sp>
          <p:nvSpPr>
            <p:cNvPr id="60" name="Hình chữ nhật 17">
              <a:extLst>
                <a:ext uri="{FF2B5EF4-FFF2-40B4-BE49-F238E27FC236}">
                  <a16:creationId xmlns:a16="http://schemas.microsoft.com/office/drawing/2014/main" id="{3E1CC723-C53F-086E-62BF-4850A7724D16}"/>
                </a:ext>
              </a:extLst>
            </p:cNvPr>
            <p:cNvSpPr/>
            <p:nvPr/>
          </p:nvSpPr>
          <p:spPr>
            <a:xfrm rot="5400000">
              <a:off x="1221526" y="708762"/>
              <a:ext cx="1296002" cy="2402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40F61BE-1402-B28B-FEE2-A204323C6FD3}"/>
                </a:ext>
              </a:extLst>
            </p:cNvPr>
            <p:cNvSpPr txBox="1"/>
            <p:nvPr/>
          </p:nvSpPr>
          <p:spPr>
            <a:xfrm>
              <a:off x="717116" y="1433815"/>
              <a:ext cx="2402380" cy="3410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HUỲNH NHẬT HOÀNG 1 </a:t>
              </a:r>
              <a:endParaRPr kumimoji="0" lang="vi-V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93F0656-F01A-2F13-7CE1-209CC4DFEA78}"/>
                </a:ext>
              </a:extLst>
            </p:cNvPr>
            <p:cNvSpPr txBox="1"/>
            <p:nvPr/>
          </p:nvSpPr>
          <p:spPr>
            <a:xfrm>
              <a:off x="668337" y="1740345"/>
              <a:ext cx="2402380" cy="62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MSSV: 22666731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NHIỆM VỤ: chương 1</a:t>
              </a:r>
              <a:endParaRPr kumimoji="0" lang="vi-VN" sz="2800" b="0" i="0" u="none" strike="noStrike" kern="1200" cap="none" spc="0" normalizeH="0" baseline="0" noProof="0" dirty="0">
                <a:ln>
                  <a:noFill/>
                </a:ln>
                <a:solidFill>
                  <a:srgbClr val="153898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DC44831-5BD9-EC12-202F-E664CFC9F62A}"/>
              </a:ext>
            </a:extLst>
          </p:cNvPr>
          <p:cNvGrpSpPr/>
          <p:nvPr/>
        </p:nvGrpSpPr>
        <p:grpSpPr>
          <a:xfrm>
            <a:off x="-6838085" y="10024665"/>
            <a:ext cx="3210541" cy="1988182"/>
            <a:chOff x="668337" y="1261951"/>
            <a:chExt cx="2451159" cy="1296002"/>
          </a:xfrm>
        </p:grpSpPr>
        <p:sp>
          <p:nvSpPr>
            <p:cNvPr id="64" name="Hình chữ nhật 17">
              <a:extLst>
                <a:ext uri="{FF2B5EF4-FFF2-40B4-BE49-F238E27FC236}">
                  <a16:creationId xmlns:a16="http://schemas.microsoft.com/office/drawing/2014/main" id="{C6216EBE-2369-F147-7E52-A5B4201CE689}"/>
                </a:ext>
              </a:extLst>
            </p:cNvPr>
            <p:cNvSpPr/>
            <p:nvPr/>
          </p:nvSpPr>
          <p:spPr>
            <a:xfrm rot="5400000">
              <a:off x="1221526" y="708762"/>
              <a:ext cx="1296002" cy="2402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90763C2-75E8-79AB-D71E-D242D8F6F867}"/>
                </a:ext>
              </a:extLst>
            </p:cNvPr>
            <p:cNvSpPr txBox="1"/>
            <p:nvPr/>
          </p:nvSpPr>
          <p:spPr>
            <a:xfrm>
              <a:off x="717116" y="1433815"/>
              <a:ext cx="2402380" cy="3410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HUỲNH NHẬT HOÀNG 2 </a:t>
              </a:r>
              <a:endParaRPr kumimoji="0" lang="vi-V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E3EC57C-6F8E-8CDD-53F6-6B3D10E6D195}"/>
                </a:ext>
              </a:extLst>
            </p:cNvPr>
            <p:cNvSpPr txBox="1"/>
            <p:nvPr/>
          </p:nvSpPr>
          <p:spPr>
            <a:xfrm>
              <a:off x="668337" y="1740345"/>
              <a:ext cx="2402380" cy="6219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MSSV: 22666731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NHIỆM VỤ: chương 1</a:t>
              </a:r>
              <a:endParaRPr kumimoji="0" lang="vi-VN" sz="2800" b="0" i="0" u="none" strike="noStrike" kern="1200" cap="none" spc="0" normalizeH="0" baseline="0" noProof="0" dirty="0">
                <a:ln>
                  <a:noFill/>
                </a:ln>
                <a:solidFill>
                  <a:srgbClr val="153898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3471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7" grpId="0" animBg="1"/>
      <p:bldP spid="48" grpId="0" animBg="1"/>
      <p:bldP spid="49" grpId="0"/>
      <p:bldP spid="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33CC7E9-029F-D9AD-7EF8-48DD516A611A}"/>
              </a:ext>
            </a:extLst>
          </p:cNvPr>
          <p:cNvGrpSpPr/>
          <p:nvPr/>
        </p:nvGrpSpPr>
        <p:grpSpPr>
          <a:xfrm>
            <a:off x="529609" y="2404664"/>
            <a:ext cx="3210541" cy="3196691"/>
            <a:chOff x="668337" y="1261951"/>
            <a:chExt cx="2451159" cy="1296002"/>
          </a:xfrm>
        </p:grpSpPr>
        <p:sp>
          <p:nvSpPr>
            <p:cNvPr id="11" name="Hình chữ nhật 17">
              <a:extLst>
                <a:ext uri="{FF2B5EF4-FFF2-40B4-BE49-F238E27FC236}">
                  <a16:creationId xmlns:a16="http://schemas.microsoft.com/office/drawing/2014/main" id="{F3825E77-7DDE-E592-7B75-CABA600D7BA2}"/>
                </a:ext>
              </a:extLst>
            </p:cNvPr>
            <p:cNvSpPr/>
            <p:nvPr/>
          </p:nvSpPr>
          <p:spPr>
            <a:xfrm rot="5400000">
              <a:off x="1221526" y="708762"/>
              <a:ext cx="1296002" cy="2402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6C4578E-4279-546C-0FC4-968DF760036D}"/>
                </a:ext>
              </a:extLst>
            </p:cNvPr>
            <p:cNvSpPr txBox="1"/>
            <p:nvPr/>
          </p:nvSpPr>
          <p:spPr>
            <a:xfrm>
              <a:off x="717116" y="1433815"/>
              <a:ext cx="2402380" cy="3410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LÂM NGỌC THANH PHÚ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B00683-54A6-8423-CC69-D5FFA0E22D05}"/>
                </a:ext>
              </a:extLst>
            </p:cNvPr>
            <p:cNvSpPr txBox="1"/>
            <p:nvPr/>
          </p:nvSpPr>
          <p:spPr>
            <a:xfrm>
              <a:off x="668337" y="1740345"/>
              <a:ext cx="2402380" cy="7361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MSSV: 22650381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Chương 1,3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Nghiên cứu và thiết kế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vi-VN" sz="2800" dirty="0">
                  <a:solidFill>
                    <a:srgbClr val="153898"/>
                  </a:solidFill>
                  <a:latin typeface="Bahnschrift Condensed" panose="020B0502040204020203" pitchFamily="34" charset="0"/>
                </a:rPr>
                <a:t>Lập trình Core GamePlay</a:t>
              </a:r>
              <a:endParaRPr kumimoji="0" lang="vi-VN" sz="2800" b="0" i="0" u="none" strike="noStrike" kern="1200" cap="none" spc="0" normalizeH="0" baseline="0" noProof="0" dirty="0">
                <a:ln>
                  <a:noFill/>
                </a:ln>
                <a:solidFill>
                  <a:srgbClr val="153898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EC44EB6-3027-FC82-F689-B53148BD545C}"/>
              </a:ext>
            </a:extLst>
          </p:cNvPr>
          <p:cNvSpPr txBox="1"/>
          <p:nvPr/>
        </p:nvSpPr>
        <p:spPr>
          <a:xfrm>
            <a:off x="3932779" y="1139926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2800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iCiel Cadena" panose="02000503000000020004" pitchFamily="50" charset="-93"/>
                <a:cs typeface="Aharoni" panose="02010803020104030203" pitchFamily="2" charset="-79"/>
              </a:rPr>
              <a:t>NHÓM 17</a:t>
            </a:r>
            <a:endParaRPr kumimoji="0" lang="vi-VN" sz="2800" b="0" i="0" u="none" strike="noStrike" kern="1200" cap="none" spc="0" normalizeH="0" baseline="0" noProof="0" dirty="0">
              <a:ln w="0"/>
              <a:solidFill>
                <a:srgbClr val="153898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Ciel Cadena" panose="02000503000000020004" pitchFamily="50" charset="-93"/>
              <a:ea typeface="+mn-ea"/>
              <a:cs typeface="Aharoni" panose="02010803020104030203" pitchFamily="2" charset="-79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116BE9-1F4C-5427-0A26-059E83D4F6AE}"/>
              </a:ext>
            </a:extLst>
          </p:cNvPr>
          <p:cNvGrpSpPr/>
          <p:nvPr/>
        </p:nvGrpSpPr>
        <p:grpSpPr>
          <a:xfrm>
            <a:off x="4440362" y="2404665"/>
            <a:ext cx="3210541" cy="3195799"/>
            <a:chOff x="668337" y="1261951"/>
            <a:chExt cx="2451159" cy="1296002"/>
          </a:xfrm>
        </p:grpSpPr>
        <p:sp>
          <p:nvSpPr>
            <p:cNvPr id="24" name="Hình chữ nhật 17">
              <a:extLst>
                <a:ext uri="{FF2B5EF4-FFF2-40B4-BE49-F238E27FC236}">
                  <a16:creationId xmlns:a16="http://schemas.microsoft.com/office/drawing/2014/main" id="{91E74717-CE80-631A-5A1A-5E04E286326C}"/>
                </a:ext>
              </a:extLst>
            </p:cNvPr>
            <p:cNvSpPr/>
            <p:nvPr/>
          </p:nvSpPr>
          <p:spPr>
            <a:xfrm rot="5400000">
              <a:off x="1221526" y="708762"/>
              <a:ext cx="1296002" cy="2402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FC8F7CB-FFBC-D8CF-B3D1-8F27076432D4}"/>
                </a:ext>
              </a:extLst>
            </p:cNvPr>
            <p:cNvSpPr txBox="1"/>
            <p:nvPr/>
          </p:nvSpPr>
          <p:spPr>
            <a:xfrm>
              <a:off x="717116" y="1433815"/>
              <a:ext cx="2402380" cy="3410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HỒ MINH HƯNG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F204B8-9281-5574-805B-AB8072BAB8B9}"/>
                </a:ext>
              </a:extLst>
            </p:cNvPr>
            <p:cNvSpPr txBox="1"/>
            <p:nvPr/>
          </p:nvSpPr>
          <p:spPr>
            <a:xfrm>
              <a:off x="668337" y="1740345"/>
              <a:ext cx="2402380" cy="73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MSSV: 22666391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Chương 2,6,7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vi-VN" sz="2800" dirty="0">
                  <a:solidFill>
                    <a:srgbClr val="153898"/>
                  </a:solidFill>
                  <a:latin typeface="Bahnschrift Condensed" panose="020B0502040204020203" pitchFamily="34" charset="0"/>
                </a:rPr>
                <a:t>Thiết kế màn chơi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Tối ưu hóa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9A2432-7BDD-3D4B-C202-700EC6CFA6B6}"/>
              </a:ext>
            </a:extLst>
          </p:cNvPr>
          <p:cNvGrpSpPr/>
          <p:nvPr/>
        </p:nvGrpSpPr>
        <p:grpSpPr>
          <a:xfrm>
            <a:off x="8351115" y="2404666"/>
            <a:ext cx="3210541" cy="3195798"/>
            <a:chOff x="668337" y="1261951"/>
            <a:chExt cx="2451159" cy="1296002"/>
          </a:xfrm>
        </p:grpSpPr>
        <p:sp>
          <p:nvSpPr>
            <p:cNvPr id="28" name="Hình chữ nhật 17">
              <a:extLst>
                <a:ext uri="{FF2B5EF4-FFF2-40B4-BE49-F238E27FC236}">
                  <a16:creationId xmlns:a16="http://schemas.microsoft.com/office/drawing/2014/main" id="{C3EEDA5F-3D3F-5A8E-785B-D4FB428FB8E2}"/>
                </a:ext>
              </a:extLst>
            </p:cNvPr>
            <p:cNvSpPr/>
            <p:nvPr/>
          </p:nvSpPr>
          <p:spPr>
            <a:xfrm rot="5400000">
              <a:off x="1221526" y="708762"/>
              <a:ext cx="1296002" cy="2402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EC92A19-D605-F03D-1B0B-35ECD4C9B87B}"/>
                </a:ext>
              </a:extLst>
            </p:cNvPr>
            <p:cNvSpPr txBox="1"/>
            <p:nvPr/>
          </p:nvSpPr>
          <p:spPr>
            <a:xfrm>
              <a:off x="717116" y="1433815"/>
              <a:ext cx="2402380" cy="3410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HUỲNH NHẬT HOÀNG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162836C-3314-45D1-4597-6D0102502198}"/>
                </a:ext>
              </a:extLst>
            </p:cNvPr>
            <p:cNvSpPr txBox="1"/>
            <p:nvPr/>
          </p:nvSpPr>
          <p:spPr>
            <a:xfrm>
              <a:off x="668337" y="1740345"/>
              <a:ext cx="2402380" cy="736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MSSV: 22667391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Chương 4,5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vi-VN" sz="2800" dirty="0">
                  <a:solidFill>
                    <a:srgbClr val="153898"/>
                  </a:solidFill>
                  <a:latin typeface="Bahnschrift Condensed" panose="020B0502040204020203" pitchFamily="34" charset="0"/>
                </a:rPr>
                <a:t>Lập trình back-end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153898"/>
                  </a:solidFill>
                  <a:effectLst/>
                  <a:uLnTx/>
                  <a:uFillTx/>
                  <a:latin typeface="Bahnschrift Condensed" panose="020B0502040204020203" pitchFamily="34" charset="0"/>
                  <a:ea typeface="+mn-ea"/>
                  <a:cs typeface="+mn-cs"/>
                </a:rPr>
                <a:t>AI - combat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648ABAE-B007-7273-6CB8-312AD0EAA201}"/>
              </a:ext>
            </a:extLst>
          </p:cNvPr>
          <p:cNvSpPr txBox="1"/>
          <p:nvPr/>
        </p:nvSpPr>
        <p:spPr>
          <a:xfrm flipH="1">
            <a:off x="-8263488" y="2502120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Arial" panose="020B0604020202020204" pitchFamily="34" charset="0"/>
                <a:ea typeface="#9Slide03 Roboto Condensed Ligh" panose="020B0604020202020204" charset="0"/>
                <a:cs typeface="Arial" panose="020B0604020202020204" pitchFamily="34" charset="0"/>
              </a:rPr>
              <a:t>CHƯƠNG 1: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#9Slide03 Roboto Condensed Ligh" panose="020B0604020202020204" charset="0"/>
                <a:cs typeface="Arial" panose="020B0604020202020204" pitchFamily="34" charset="0"/>
              </a:rPr>
              <a:t>TỔNG QUAN ĐỀ TÀI</a:t>
            </a:r>
            <a:endParaRPr lang="en-US" sz="2400">
              <a:solidFill>
                <a:schemeClr val="tx1"/>
              </a:solidFill>
              <a:latin typeface="Arial" panose="020B0604020202020204" pitchFamily="34" charset="0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DD749F-6673-7611-98E3-D6DEC46904D7}"/>
              </a:ext>
            </a:extLst>
          </p:cNvPr>
          <p:cNvSpPr txBox="1"/>
          <p:nvPr/>
        </p:nvSpPr>
        <p:spPr>
          <a:xfrm flipH="1">
            <a:off x="-14283288" y="3304786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2: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CƠ SỞ LÝ THUYẾT VÀ CÔNG NGHỆ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F6F5CF-003A-6DB4-3713-58E6C244DF0E}"/>
              </a:ext>
            </a:extLst>
          </p:cNvPr>
          <p:cNvSpPr txBox="1"/>
          <p:nvPr/>
        </p:nvSpPr>
        <p:spPr>
          <a:xfrm flipH="1">
            <a:off x="-21141288" y="4336862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3: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PHÂN TÍCH VÀ THIẾT KẾ HỆ THỐNG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F3C9C-C223-E003-F834-A9F2F53ADA29}"/>
              </a:ext>
            </a:extLst>
          </p:cNvPr>
          <p:cNvSpPr txBox="1"/>
          <p:nvPr/>
        </p:nvSpPr>
        <p:spPr>
          <a:xfrm flipH="1">
            <a:off x="-30059379" y="5268065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4: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THỰC HIỆN HÓA VÀ GIẢI PHÁP KỸ THUẬT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099261-B33D-B8B1-EC15-1C9413CA23FA}"/>
              </a:ext>
            </a:extLst>
          </p:cNvPr>
          <p:cNvSpPr txBox="1"/>
          <p:nvPr/>
        </p:nvSpPr>
        <p:spPr>
          <a:xfrm flipH="1">
            <a:off x="-36002979" y="6047271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5: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KẾT QUẢ VÀ TRIỂN KHAI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BFE61E-4899-AD7E-F210-510D50762C03}"/>
              </a:ext>
            </a:extLst>
          </p:cNvPr>
          <p:cNvSpPr txBox="1"/>
          <p:nvPr/>
        </p:nvSpPr>
        <p:spPr>
          <a:xfrm flipH="1">
            <a:off x="-42077208" y="6858000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6: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DEMO VÀ HƯỚNG DẪN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F399E7-877E-197E-6C83-D96581D877D8}"/>
              </a:ext>
            </a:extLst>
          </p:cNvPr>
          <p:cNvSpPr txBox="1"/>
          <p:nvPr/>
        </p:nvSpPr>
        <p:spPr>
          <a:xfrm flipH="1">
            <a:off x="-45996065" y="7502529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7: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KẾT LUẬN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9C6C3281-BA7C-8376-A6A1-578BCF4CC7D3}"/>
              </a:ext>
            </a:extLst>
          </p:cNvPr>
          <p:cNvSpPr/>
          <p:nvPr/>
        </p:nvSpPr>
        <p:spPr>
          <a:xfrm>
            <a:off x="-9432120" y="2524570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0ECC353E-3D1C-C96E-2334-E009570ED1F9}"/>
              </a:ext>
            </a:extLst>
          </p:cNvPr>
          <p:cNvSpPr/>
          <p:nvPr/>
        </p:nvSpPr>
        <p:spPr>
          <a:xfrm>
            <a:off x="-14845150" y="3274716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61D705BE-367A-26E9-8D65-E6A0701B7D43}"/>
              </a:ext>
            </a:extLst>
          </p:cNvPr>
          <p:cNvSpPr/>
          <p:nvPr/>
        </p:nvSpPr>
        <p:spPr>
          <a:xfrm>
            <a:off x="-22179497" y="4390145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821E3094-D6BE-824B-EEFD-1D427E6781AD}"/>
              </a:ext>
            </a:extLst>
          </p:cNvPr>
          <p:cNvSpPr/>
          <p:nvPr/>
        </p:nvSpPr>
        <p:spPr>
          <a:xfrm>
            <a:off x="-30967897" y="5268065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A6F1D60E-8129-0289-FBE2-1CB1426EF20A}"/>
              </a:ext>
            </a:extLst>
          </p:cNvPr>
          <p:cNvSpPr/>
          <p:nvPr/>
        </p:nvSpPr>
        <p:spPr>
          <a:xfrm>
            <a:off x="-37077974" y="6089758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B86A25C7-9AE3-D22F-018A-8C855D6F5ED9}"/>
              </a:ext>
            </a:extLst>
          </p:cNvPr>
          <p:cNvSpPr/>
          <p:nvPr/>
        </p:nvSpPr>
        <p:spPr>
          <a:xfrm>
            <a:off x="-43123174" y="6991895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C9BFC678-E974-1A1C-1719-C9CA160328D1}"/>
              </a:ext>
            </a:extLst>
          </p:cNvPr>
          <p:cNvSpPr/>
          <p:nvPr/>
        </p:nvSpPr>
        <p:spPr>
          <a:xfrm>
            <a:off x="-51174974" y="7489277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34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TextBox 1087">
            <a:extLst>
              <a:ext uri="{FF2B5EF4-FFF2-40B4-BE49-F238E27FC236}">
                <a16:creationId xmlns:a16="http://schemas.microsoft.com/office/drawing/2014/main" id="{D952BBA7-DE16-4E28-EDC2-1D3932F8114A}"/>
              </a:ext>
            </a:extLst>
          </p:cNvPr>
          <p:cNvSpPr txBox="1"/>
          <p:nvPr/>
        </p:nvSpPr>
        <p:spPr>
          <a:xfrm>
            <a:off x="4912253" y="15530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LÝ DO CHỌN ĐỀ TÀI</a:t>
            </a:r>
            <a:endParaRPr lang="vi-VN" b="1" kern="100">
              <a:solidFill>
                <a:srgbClr val="112C9F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B21BB5C4-131C-7A86-6338-2CF88ABB9B62}"/>
              </a:ext>
            </a:extLst>
          </p:cNvPr>
          <p:cNvSpPr/>
          <p:nvPr/>
        </p:nvSpPr>
        <p:spPr>
          <a:xfrm>
            <a:off x="3536164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BB7720B-D9EA-35A1-C496-45AA444DCBF5}"/>
              </a:ext>
            </a:extLst>
          </p:cNvPr>
          <p:cNvSpPr txBox="1"/>
          <p:nvPr/>
        </p:nvSpPr>
        <p:spPr>
          <a:xfrm>
            <a:off x="3932779" y="1139926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800" b="0" i="0" u="none" strike="noStrike" kern="1200" cap="none" spc="0" normalizeH="0" baseline="0" noProof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Ciel Cadena" panose="02000503000000020004" pitchFamily="50" charset="-93"/>
                <a:ea typeface="+mn-ea"/>
                <a:cs typeface="Aharoni" panose="02010803020104030203" pitchFamily="2" charset="-79"/>
              </a:rPr>
              <a:t>NỘI </a:t>
            </a:r>
            <a:r>
              <a:rPr kumimoji="0" lang="vi-VN" sz="2800" b="0" i="0" u="none" strike="noStrike" kern="1200" cap="none" spc="0" normalizeH="0" baseline="0" noProof="0">
                <a:ln w="0"/>
                <a:solidFill>
                  <a:srgbClr val="112C9F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Ciel Cadena" panose="02000503000000020004" pitchFamily="50" charset="-93"/>
                <a:ea typeface="+mn-ea"/>
                <a:cs typeface="Aharoni" panose="02010803020104030203" pitchFamily="2" charset="-79"/>
              </a:rPr>
              <a:t>DUNG</a:t>
            </a:r>
            <a:endParaRPr kumimoji="0" lang="vi-VN" sz="2800" b="0" i="0" u="none" strike="noStrike" kern="1200" cap="none" spc="0" normalizeH="0" baseline="0" noProof="0" dirty="0">
              <a:ln w="0"/>
              <a:solidFill>
                <a:srgbClr val="112C9F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Ciel Cadena" panose="02000503000000020004" pitchFamily="50" charset="-93"/>
              <a:ea typeface="+mn-ea"/>
              <a:cs typeface="Aharoni" panose="02010803020104030203" pitchFamily="2" charset="-79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EF3659-4059-83A6-A59C-846E2964DCD7}"/>
              </a:ext>
            </a:extLst>
          </p:cNvPr>
          <p:cNvSpPr txBox="1"/>
          <p:nvPr/>
        </p:nvSpPr>
        <p:spPr>
          <a:xfrm flipH="1">
            <a:off x="2365285" y="1968949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1: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TỔNG QUAN ĐỀ TÀI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0755DB-C654-2E78-646D-326E2D0ADE1A}"/>
              </a:ext>
            </a:extLst>
          </p:cNvPr>
          <p:cNvSpPr txBox="1"/>
          <p:nvPr/>
        </p:nvSpPr>
        <p:spPr>
          <a:xfrm flipH="1">
            <a:off x="2365285" y="2467892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2: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CƠ SỞ LÝ THUYẾT VÀ CÔNG NGHỆ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EAECDE-751C-BBF1-5BE2-496D4860CE34}"/>
              </a:ext>
            </a:extLst>
          </p:cNvPr>
          <p:cNvSpPr txBox="1"/>
          <p:nvPr/>
        </p:nvSpPr>
        <p:spPr>
          <a:xfrm flipH="1">
            <a:off x="2365285" y="2966835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3: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PHÂN TÍCH VÀ THIẾT KẾ HỆ THỐNG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DDC622B-85DE-AEDE-E45F-09EBAD42A90B}"/>
              </a:ext>
            </a:extLst>
          </p:cNvPr>
          <p:cNvSpPr txBox="1"/>
          <p:nvPr/>
        </p:nvSpPr>
        <p:spPr>
          <a:xfrm flipH="1">
            <a:off x="2365285" y="3465777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4: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THỰC HIỆN HÓA VÀ GIẢI PHÁP KỸ THUẬT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A2B8E0A1-B43D-75AB-969F-BFD6197AFEBB}"/>
              </a:ext>
            </a:extLst>
          </p:cNvPr>
          <p:cNvSpPr txBox="1"/>
          <p:nvPr/>
        </p:nvSpPr>
        <p:spPr>
          <a:xfrm flipH="1">
            <a:off x="2365285" y="3964719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5: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KẾT QUẢ VÀ TRIỂN KHAI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65DCB578-2C52-D1BF-A91C-3EA65A1032C9}"/>
              </a:ext>
            </a:extLst>
          </p:cNvPr>
          <p:cNvSpPr txBox="1"/>
          <p:nvPr/>
        </p:nvSpPr>
        <p:spPr>
          <a:xfrm flipH="1">
            <a:off x="2365285" y="4463661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6: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DEMO VÀ HƯỚNG DẪN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3E38C1ED-0F38-5C26-CE61-5F37605C7F47}"/>
              </a:ext>
            </a:extLst>
          </p:cNvPr>
          <p:cNvSpPr txBox="1"/>
          <p:nvPr/>
        </p:nvSpPr>
        <p:spPr>
          <a:xfrm flipH="1">
            <a:off x="2365285" y="4962604"/>
            <a:ext cx="8918091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7:</a:t>
            </a:r>
            <a:r>
              <a:rPr lang="vi-VN" sz="2400" spc="60">
                <a:solidFill>
                  <a:srgbClr val="112C9F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 </a:t>
            </a:r>
            <a:r>
              <a:rPr lang="vi-VN" sz="2400" spc="60">
                <a:solidFill>
                  <a:schemeClr val="tx1"/>
                </a:solidFill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KẾT LUẬN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1080" name="Flowchart: Connector 1079">
            <a:extLst>
              <a:ext uri="{FF2B5EF4-FFF2-40B4-BE49-F238E27FC236}">
                <a16:creationId xmlns:a16="http://schemas.microsoft.com/office/drawing/2014/main" id="{8331F7C6-E4AF-B1F6-A44A-9A6FBA800DB7}"/>
              </a:ext>
            </a:extLst>
          </p:cNvPr>
          <p:cNvSpPr/>
          <p:nvPr/>
        </p:nvSpPr>
        <p:spPr>
          <a:xfrm>
            <a:off x="1947080" y="2029270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81" name="Flowchart: Connector 1080">
            <a:extLst>
              <a:ext uri="{FF2B5EF4-FFF2-40B4-BE49-F238E27FC236}">
                <a16:creationId xmlns:a16="http://schemas.microsoft.com/office/drawing/2014/main" id="{3D17219A-9BB1-A5B1-35C5-5BFDCA22B6C8}"/>
              </a:ext>
            </a:extLst>
          </p:cNvPr>
          <p:cNvSpPr/>
          <p:nvPr/>
        </p:nvSpPr>
        <p:spPr>
          <a:xfrm>
            <a:off x="1947080" y="2526651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82" name="Flowchart: Connector 1081">
            <a:extLst>
              <a:ext uri="{FF2B5EF4-FFF2-40B4-BE49-F238E27FC236}">
                <a16:creationId xmlns:a16="http://schemas.microsoft.com/office/drawing/2014/main" id="{D11E7CF9-0F08-5DBE-2B2A-7C555A210E31}"/>
              </a:ext>
            </a:extLst>
          </p:cNvPr>
          <p:cNvSpPr/>
          <p:nvPr/>
        </p:nvSpPr>
        <p:spPr>
          <a:xfrm>
            <a:off x="1947080" y="3024032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83" name="Flowchart: Connector 1082">
            <a:extLst>
              <a:ext uri="{FF2B5EF4-FFF2-40B4-BE49-F238E27FC236}">
                <a16:creationId xmlns:a16="http://schemas.microsoft.com/office/drawing/2014/main" id="{BEC60AB8-1912-B988-7A41-B8B129CFB542}"/>
              </a:ext>
            </a:extLst>
          </p:cNvPr>
          <p:cNvSpPr/>
          <p:nvPr/>
        </p:nvSpPr>
        <p:spPr>
          <a:xfrm>
            <a:off x="1947080" y="3521413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84" name="Flowchart: Connector 1083">
            <a:extLst>
              <a:ext uri="{FF2B5EF4-FFF2-40B4-BE49-F238E27FC236}">
                <a16:creationId xmlns:a16="http://schemas.microsoft.com/office/drawing/2014/main" id="{F23AEFDF-103A-D06A-1C4B-2004B7612767}"/>
              </a:ext>
            </a:extLst>
          </p:cNvPr>
          <p:cNvSpPr/>
          <p:nvPr/>
        </p:nvSpPr>
        <p:spPr>
          <a:xfrm>
            <a:off x="1947080" y="4018794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85" name="Flowchart: Connector 1084">
            <a:extLst>
              <a:ext uri="{FF2B5EF4-FFF2-40B4-BE49-F238E27FC236}">
                <a16:creationId xmlns:a16="http://schemas.microsoft.com/office/drawing/2014/main" id="{138CB107-D363-EFBD-20F5-C3891854E8BB}"/>
              </a:ext>
            </a:extLst>
          </p:cNvPr>
          <p:cNvSpPr/>
          <p:nvPr/>
        </p:nvSpPr>
        <p:spPr>
          <a:xfrm>
            <a:off x="1947080" y="4516175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86" name="Flowchart: Connector 1085">
            <a:extLst>
              <a:ext uri="{FF2B5EF4-FFF2-40B4-BE49-F238E27FC236}">
                <a16:creationId xmlns:a16="http://schemas.microsoft.com/office/drawing/2014/main" id="{32A9A119-6CC7-E0FE-4F15-4AAA085BEAAB}"/>
              </a:ext>
            </a:extLst>
          </p:cNvPr>
          <p:cNvSpPr/>
          <p:nvPr/>
        </p:nvSpPr>
        <p:spPr>
          <a:xfrm>
            <a:off x="1947080" y="5013557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87" name="Hình chữ nhật 4">
            <a:extLst>
              <a:ext uri="{FF2B5EF4-FFF2-40B4-BE49-F238E27FC236}">
                <a16:creationId xmlns:a16="http://schemas.microsoft.com/office/drawing/2014/main" id="{CD1BFA7C-773A-F891-5D47-5C4BA002C520}"/>
              </a:ext>
            </a:extLst>
          </p:cNvPr>
          <p:cNvSpPr/>
          <p:nvPr/>
        </p:nvSpPr>
        <p:spPr>
          <a:xfrm>
            <a:off x="-6116046" y="-1121922"/>
            <a:ext cx="24083364" cy="8830822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91C3C419-76BE-3915-81E9-F1583E266486}"/>
              </a:ext>
            </a:extLst>
          </p:cNvPr>
          <p:cNvSpPr txBox="1"/>
          <p:nvPr/>
        </p:nvSpPr>
        <p:spPr>
          <a:xfrm>
            <a:off x="-9898924" y="2080702"/>
            <a:ext cx="12031134" cy="2068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Thị trường: Sức hút của dòng game Pixel Art (Dead Cells, Celeste) vs Game 3D.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Mục tiêu kỹ thuật: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Làm chủ Unity Engine chuyên sâu (không chỉ kéo thả).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Áp dụng OOP, Design Patterns (Singleton, Observer, State Machine).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Tư duy sản phẩm: Tạo ra một "Vertical Slice" hoàn chỉnh (Gameplay, Audio, UI, FX).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CBF22F65-D620-6FA3-423B-0230386C2B65}"/>
              </a:ext>
            </a:extLst>
          </p:cNvPr>
          <p:cNvSpPr/>
          <p:nvPr/>
        </p:nvSpPr>
        <p:spPr>
          <a:xfrm>
            <a:off x="-1860041" y="1971844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7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4DA9956-85E9-3C76-6BD3-EE923E786010}"/>
              </a:ext>
            </a:extLst>
          </p:cNvPr>
          <p:cNvSpPr txBox="1"/>
          <p:nvPr/>
        </p:nvSpPr>
        <p:spPr>
          <a:xfrm>
            <a:off x="4036896" y="17054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2. MỤC TIÊU VÀ PHẠM VI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B09EB9-90E5-01D7-7E8C-9AF2A068AFFB}"/>
              </a:ext>
            </a:extLst>
          </p:cNvPr>
          <p:cNvSpPr/>
          <p:nvPr/>
        </p:nvSpPr>
        <p:spPr>
          <a:xfrm>
            <a:off x="3847314" y="16702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DEDED2-9EAA-9AAD-A88B-D272FBCC082E}"/>
              </a:ext>
            </a:extLst>
          </p:cNvPr>
          <p:cNvSpPr txBox="1"/>
          <p:nvPr/>
        </p:nvSpPr>
        <p:spPr>
          <a:xfrm>
            <a:off x="-5190510" y="2439395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Mục tiêu kỹ thuật:</a:t>
            </a:r>
            <a:endParaRPr lang="vi-VN" kern="10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Modular, Clean Code (SOLID).</a:t>
            </a:r>
            <a:endParaRPr lang="vi-VN" kern="10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AI thông minh (FSM), Boss đa giai đoạn.</a:t>
            </a:r>
            <a:endParaRPr lang="vi-VN" kern="10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Game Feel tối ưu (Coyote Time, Input Buffer).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998FBE-7FC0-E7FA-3597-7B44D435719C}"/>
              </a:ext>
            </a:extLst>
          </p:cNvPr>
          <p:cNvSpPr/>
          <p:nvPr/>
        </p:nvSpPr>
        <p:spPr>
          <a:xfrm>
            <a:off x="-1857890" y="21244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A8C0F-2680-6FDE-9B95-03217133CDE6}"/>
              </a:ext>
            </a:extLst>
          </p:cNvPr>
          <p:cNvSpPr txBox="1"/>
          <p:nvPr/>
        </p:nvSpPr>
        <p:spPr>
          <a:xfrm>
            <a:off x="1373697" y="2286994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Phạm vi hiện thực:</a:t>
            </a:r>
            <a:endParaRPr lang="vi-VN" kern="10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Core Gameplay: Combo, Dash (i-frame), Nhảy đôi.</a:t>
            </a:r>
            <a:endParaRPr lang="vi-VN" kern="10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Môi trường: 4 lớp Parallax, Tilemap.</a:t>
            </a:r>
            <a:endParaRPr lang="vi-VN" kern="10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AI: Quái bay, Quái bộ, Boss Fight.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A9EC41-B3B8-8069-A5E2-B6153E30D5F5}"/>
              </a:ext>
            </a:extLst>
          </p:cNvPr>
          <p:cNvSpPr/>
          <p:nvPr/>
        </p:nvSpPr>
        <p:spPr>
          <a:xfrm>
            <a:off x="1549400" y="1936839"/>
            <a:ext cx="4514851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151DA-F2C9-94EF-2B45-D323134463BF}"/>
              </a:ext>
            </a:extLst>
          </p:cNvPr>
          <p:cNvSpPr txBox="1"/>
          <p:nvPr/>
        </p:nvSpPr>
        <p:spPr>
          <a:xfrm>
            <a:off x="746653" y="2080702"/>
            <a:ext cx="12031134" cy="2068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Sức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hút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dòng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 Pixel Art (Dead Cells, Celeste) vs Game 3D.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Unity Engine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chuyên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sâu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kéo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thả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Áp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OOP, Design Patterns (Singleton, Observer, State Machine).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Tư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sản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phẩm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"Vertical Slice"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chỉnh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(Gameplay, Audio, UI, FX).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LÝ DO CHỌN ĐỀ TÀI</a:t>
            </a:r>
            <a:endParaRPr lang="vi-VN" b="1" kern="100">
              <a:solidFill>
                <a:srgbClr val="112C9F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3694914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DEF3659-4059-83A6-A59C-846E2964DCD7}"/>
              </a:ext>
            </a:extLst>
          </p:cNvPr>
          <p:cNvSpPr txBox="1"/>
          <p:nvPr/>
        </p:nvSpPr>
        <p:spPr>
          <a:xfrm flipH="1">
            <a:off x="6336151" y="329478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1: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TỔNG QUAN ĐỀ TÀI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1080" name="Flowchart: Connector 1079">
            <a:extLst>
              <a:ext uri="{FF2B5EF4-FFF2-40B4-BE49-F238E27FC236}">
                <a16:creationId xmlns:a16="http://schemas.microsoft.com/office/drawing/2014/main" id="{8331F7C6-E4AF-B1F6-A44A-9A6FBA800DB7}"/>
              </a:ext>
            </a:extLst>
          </p:cNvPr>
          <p:cNvSpPr/>
          <p:nvPr/>
        </p:nvSpPr>
        <p:spPr>
          <a:xfrm>
            <a:off x="5917946" y="389799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C308E-B3BE-1C8C-07D1-F5480F5DF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1119" y="1365789"/>
            <a:ext cx="2572113" cy="381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00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F15EA4B-7EDE-29A7-C992-2358DE87E82C}"/>
              </a:ext>
            </a:extLst>
          </p:cNvPr>
          <p:cNvSpPr txBox="1"/>
          <p:nvPr/>
        </p:nvSpPr>
        <p:spPr>
          <a:xfrm>
            <a:off x="-7347509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B49A4-C050-BF8D-8080-A9EC3CFA04F5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CA96A6-A615-B766-E364-388FC665586A}"/>
              </a:ext>
            </a:extLst>
          </p:cNvPr>
          <p:cNvSpPr/>
          <p:nvPr/>
        </p:nvSpPr>
        <p:spPr>
          <a:xfrm>
            <a:off x="5616849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2. MỤC TIÊU VÀ PHẠM VI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3694914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DEF3659-4059-83A6-A59C-846E2964DCD7}"/>
              </a:ext>
            </a:extLst>
          </p:cNvPr>
          <p:cNvSpPr txBox="1"/>
          <p:nvPr/>
        </p:nvSpPr>
        <p:spPr>
          <a:xfrm flipH="1">
            <a:off x="6336151" y="329478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1: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TỔNG QUAN ĐỀ TÀI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1080" name="Flowchart: Connector 1079">
            <a:extLst>
              <a:ext uri="{FF2B5EF4-FFF2-40B4-BE49-F238E27FC236}">
                <a16:creationId xmlns:a16="http://schemas.microsoft.com/office/drawing/2014/main" id="{8331F7C6-E4AF-B1F6-A44A-9A6FBA800DB7}"/>
              </a:ext>
            </a:extLst>
          </p:cNvPr>
          <p:cNvSpPr/>
          <p:nvPr/>
        </p:nvSpPr>
        <p:spPr>
          <a:xfrm>
            <a:off x="5917946" y="389799"/>
            <a:ext cx="211756" cy="211756"/>
          </a:xfrm>
          <a:prstGeom prst="flowChartConnector">
            <a:avLst/>
          </a:prstGeom>
          <a:solidFill>
            <a:srgbClr val="112C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421E1-2B82-8744-C941-52390225FEAF}"/>
              </a:ext>
            </a:extLst>
          </p:cNvPr>
          <p:cNvSpPr txBox="1"/>
          <p:nvPr/>
        </p:nvSpPr>
        <p:spPr>
          <a:xfrm>
            <a:off x="6064250" y="2286994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 vi hiện thực:</a:t>
            </a:r>
            <a:endParaRPr lang="vi-VN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Gameplay: Combo, Dash (i-frame), Nhảy đôi.</a:t>
            </a:r>
            <a:endParaRPr lang="vi-VN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Môi trường: 4 lớp Parallax, Tilemap.</a:t>
            </a:r>
            <a:endParaRPr lang="vi-VN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AI: Quái bay, Quái bộ, Boss Fight.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177A77-9C51-8F21-610E-5CDCBE836BE5}"/>
              </a:ext>
            </a:extLst>
          </p:cNvPr>
          <p:cNvSpPr/>
          <p:nvPr/>
        </p:nvSpPr>
        <p:spPr>
          <a:xfrm>
            <a:off x="1549400" y="1936839"/>
            <a:ext cx="4514851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B748E5-1514-BBD9-C4F1-FCF615645FE4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917946" y="1365250"/>
            <a:ext cx="7690" cy="3939734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7" y="2286995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 tiêu kỹ thuật:</a:t>
            </a:r>
            <a:endParaRPr lang="vi-VN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 trúc Modular, Clean Code (SOLID).</a:t>
            </a:r>
            <a:endParaRPr lang="vi-VN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thông minh (FSM), Boss đa giai đoạn.</a:t>
            </a:r>
            <a:endParaRPr lang="vi-VN" kern="1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Feel tối ưu (Coyote Time, Input Buffer).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038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6B30397-0B0E-D7AD-C97B-12828915430A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D1BAD-C3CF-BF5A-1632-A445B96E7467}"/>
              </a:ext>
            </a:extLst>
          </p:cNvPr>
          <p:cNvSpPr txBox="1"/>
          <p:nvPr/>
        </p:nvSpPr>
        <p:spPr>
          <a:xfrm>
            <a:off x="-5309043" y="2286995"/>
            <a:ext cx="4807378" cy="260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 lý 2D: Raycasting (Ground Check), Physics Material (Ma sát = 0).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 liệu: Scriptable Objects (Lưu chỉ số Skill, Monster).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 họa: Pixel Art chuẩn PPU, Filter Mode: Point.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Tối ưu: Addressables (Tải bất đồng bộ).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49D0A-F3CD-72D0-3D38-957A3D416C30}"/>
              </a:ext>
            </a:extLst>
          </p:cNvPr>
          <p:cNvSpPr txBox="1"/>
          <p:nvPr/>
        </p:nvSpPr>
        <p:spPr>
          <a:xfrm>
            <a:off x="1492233" y="2286994"/>
            <a:ext cx="4804788" cy="218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 hình BaaS: Backend-as-a-Service (Không cần server vật lý).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NoSQL &amp; JSON: Cấu trúc dữ liệu cây, linh hoạt, tốc độ cao.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 dụng: Lưu trữ Cloud Save, Sync dữ liệu Realtime.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FE09AA-FA07-0923-D8C8-A78EA3C6EFEC}"/>
              </a:ext>
            </a:extLst>
          </p:cNvPr>
          <p:cNvSpPr/>
          <p:nvPr/>
        </p:nvSpPr>
        <p:spPr>
          <a:xfrm>
            <a:off x="1549400" y="1936839"/>
            <a:ext cx="4514849" cy="2779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C1BAC-E6A0-E16C-691A-9D1CAADE7AB1}"/>
              </a:ext>
            </a:extLst>
          </p:cNvPr>
          <p:cNvSpPr txBox="1"/>
          <p:nvPr/>
        </p:nvSpPr>
        <p:spPr>
          <a:xfrm>
            <a:off x="746653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2B26B6-172A-80F3-BD8E-EF5A09C69545}"/>
              </a:ext>
            </a:extLst>
          </p:cNvPr>
          <p:cNvSpPr/>
          <p:nvPr/>
        </p:nvSpPr>
        <p:spPr>
          <a:xfrm>
            <a:off x="5616849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99333-A0B5-DFFE-D98C-8719AF41027A}"/>
              </a:ext>
            </a:extLst>
          </p:cNvPr>
          <p:cNvSpPr txBox="1"/>
          <p:nvPr/>
        </p:nvSpPr>
        <p:spPr>
          <a:xfrm>
            <a:off x="746652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7DA3C1-17CE-DE7E-98A2-EA080A5ECA75}"/>
              </a:ext>
            </a:extLst>
          </p:cNvPr>
          <p:cNvSpPr/>
          <p:nvPr/>
        </p:nvSpPr>
        <p:spPr>
          <a:xfrm>
            <a:off x="-2010290" y="1972013"/>
            <a:ext cx="2756943" cy="3184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DEF3659-4059-83A6-A59C-846E2964DCD7}"/>
              </a:ext>
            </a:extLst>
          </p:cNvPr>
          <p:cNvSpPr txBox="1"/>
          <p:nvPr/>
        </p:nvSpPr>
        <p:spPr>
          <a:xfrm flipH="1">
            <a:off x="4164868" y="32947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2: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CƠ SỞ LÝ THUYẾT &amp; CÔNG NGHỆ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CF851A-E7B9-3A11-22C6-F9717DFA51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805" b="15608"/>
          <a:stretch/>
        </p:blipFill>
        <p:spPr>
          <a:xfrm>
            <a:off x="6024201" y="2982488"/>
            <a:ext cx="5329599" cy="147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17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5CD59F3-C64D-4911-D62E-453E3A4BF874}"/>
              </a:ext>
            </a:extLst>
          </p:cNvPr>
          <p:cNvSpPr txBox="1"/>
          <p:nvPr/>
        </p:nvSpPr>
        <p:spPr>
          <a:xfrm>
            <a:off x="-7077956" y="2439395"/>
            <a:ext cx="6479827" cy="13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 tâm: GameManager điều phối.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 lý: EnemyManager, UIManager, PlayerController.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Luồng dữ liệu: Giao tiếp qua Events.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203C2C-F8A3-F0B9-56F2-63125C497E81}"/>
              </a:ext>
            </a:extLst>
          </p:cNvPr>
          <p:cNvSpPr/>
          <p:nvPr/>
        </p:nvSpPr>
        <p:spPr>
          <a:xfrm>
            <a:off x="-1857890" y="21244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5EA4B-7EDE-29A7-C992-2358DE87E82C}"/>
              </a:ext>
            </a:extLst>
          </p:cNvPr>
          <p:cNvSpPr txBox="1"/>
          <p:nvPr/>
        </p:nvSpPr>
        <p:spPr>
          <a:xfrm>
            <a:off x="-7347509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B49A4-C050-BF8D-8080-A9EC3CFA04F5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2. VẬT LÝ VÀ QUẢN LÝ TÀI NGUYÊN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5071330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E421E1-2B82-8744-C941-52390225FEAF}"/>
              </a:ext>
            </a:extLst>
          </p:cNvPr>
          <p:cNvSpPr txBox="1"/>
          <p:nvPr/>
        </p:nvSpPr>
        <p:spPr>
          <a:xfrm>
            <a:off x="6064250" y="2286994"/>
            <a:ext cx="4804788" cy="218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 hình BaaS: Backend-as-a-Service (Không cần server vật lý).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NoSQL &amp; JSON: Cấu trúc dữ liệu cây, linh hoạt, tốc độ cao.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Ứng dụng: Lưu trữ Cloud Save, Sync dữ liệu Realtime.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177A77-9C51-8F21-610E-5CDCBE836BE5}"/>
              </a:ext>
            </a:extLst>
          </p:cNvPr>
          <p:cNvSpPr/>
          <p:nvPr/>
        </p:nvSpPr>
        <p:spPr>
          <a:xfrm>
            <a:off x="1549400" y="1936839"/>
            <a:ext cx="4514849" cy="2779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B748E5-1514-BBD9-C4F1-FCF615645FE4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917946" y="1365250"/>
            <a:ext cx="7690" cy="3939734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7" y="2286995"/>
            <a:ext cx="4807378" cy="260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 lý 2D: Raycasting (Ground Check), Physics Material (Ma sát = 0).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 liệu: Scriptable Objects (Lưu chỉ số Skill, Monster).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 họa: Pixel Art chuẩn PPU, Filter Mode: Point.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Tối ưu: Addressables (Tải bất đồng bộ).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AF6D51-2060-E2D0-9BE2-5BFF8E30DE2D}"/>
              </a:ext>
            </a:extLst>
          </p:cNvPr>
          <p:cNvSpPr txBox="1"/>
          <p:nvPr/>
        </p:nvSpPr>
        <p:spPr>
          <a:xfrm>
            <a:off x="6157179" y="154384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 THUYẾT BACKEND (FIREBASE)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9CCF51-F9D3-B638-13E3-A7DE4A7B682B}"/>
              </a:ext>
            </a:extLst>
          </p:cNvPr>
          <p:cNvSpPr txBox="1"/>
          <p:nvPr/>
        </p:nvSpPr>
        <p:spPr>
          <a:xfrm flipH="1">
            <a:off x="4164868" y="32947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2: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CƠ SỞ LÝ THUYẾT &amp; CÔNG NGHỆ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624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007D6DB-DF03-9118-3351-3123E84C9E39}"/>
              </a:ext>
            </a:extLst>
          </p:cNvPr>
          <p:cNvSpPr txBox="1"/>
          <p:nvPr/>
        </p:nvSpPr>
        <p:spPr>
          <a:xfrm>
            <a:off x="-6003313" y="2458645"/>
            <a:ext cx="5747174" cy="196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 trạng thái: Grounded (Đất), Airborne (Không trung), Combat (Chiến đấu).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 lý Input: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Buffer (0.15s): Lưu lệnh nhấn sớm.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Coyote Time: Hỗ trợ nhảy mép vực.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895C8-4E40-F048-7CB1-66E8149E67B2}"/>
              </a:ext>
            </a:extLst>
          </p:cNvPr>
          <p:cNvSpPr/>
          <p:nvPr/>
        </p:nvSpPr>
        <p:spPr>
          <a:xfrm>
            <a:off x="-1857890" y="21244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0505B-9E45-5283-4E70-18B47559686D}"/>
              </a:ext>
            </a:extLst>
          </p:cNvPr>
          <p:cNvSpPr txBox="1"/>
          <p:nvPr/>
        </p:nvSpPr>
        <p:spPr>
          <a:xfrm>
            <a:off x="70543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 KẾ HỆ THỐNG NHÂN VẬT (FSM)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0B8E1-D2A6-F79E-E043-6CDCF1BA5B83}"/>
              </a:ext>
            </a:extLst>
          </p:cNvPr>
          <p:cNvSpPr/>
          <p:nvPr/>
        </p:nvSpPr>
        <p:spPr>
          <a:xfrm>
            <a:off x="5689396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5EA4B-7EDE-29A7-C992-2358DE87E82C}"/>
              </a:ext>
            </a:extLst>
          </p:cNvPr>
          <p:cNvSpPr txBox="1"/>
          <p:nvPr/>
        </p:nvSpPr>
        <p:spPr>
          <a:xfrm>
            <a:off x="-7347509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B49A4-C050-BF8D-8080-A9EC3CFA04F5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KIẾN TRÚC TỔNG THỂ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5071330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6" y="2306245"/>
            <a:ext cx="6477423" cy="13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 tâm: GameManager điều phối.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 lý: EnemyManager, UIManager, PlayerController.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Luồng dữ liệu: Giao tiếp qua Events.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A4912-C831-1211-9BB3-1BA9AA047EAD}"/>
              </a:ext>
            </a:extLst>
          </p:cNvPr>
          <p:cNvSpPr txBox="1"/>
          <p:nvPr/>
        </p:nvSpPr>
        <p:spPr>
          <a:xfrm flipH="1">
            <a:off x="3766933" y="32947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3: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PHÂN TÍCH VÀ THIẾT KẾ HỆ THỐNG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54B499-9EA3-9BD2-79D9-F6C2A5611F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226" y="1447576"/>
            <a:ext cx="3004820" cy="373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92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8DBB838-053D-810E-81B4-79770A87690E}"/>
              </a:ext>
            </a:extLst>
          </p:cNvPr>
          <p:cNvSpPr txBox="1"/>
          <p:nvPr/>
        </p:nvSpPr>
        <p:spPr>
          <a:xfrm>
            <a:off x="7253351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THIẾT KẾ AI VÀ MÔI TRƯỜNG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18C3BD-1A05-3745-43FB-7D5F7DCBAEB8}"/>
              </a:ext>
            </a:extLst>
          </p:cNvPr>
          <p:cNvSpPr/>
          <p:nvPr/>
        </p:nvSpPr>
        <p:spPr>
          <a:xfrm>
            <a:off x="4640241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A7ACE-4980-E918-3486-256B501C13D4}"/>
              </a:ext>
            </a:extLst>
          </p:cNvPr>
          <p:cNvSpPr txBox="1"/>
          <p:nvPr/>
        </p:nvSpPr>
        <p:spPr>
          <a:xfrm>
            <a:off x="-6155714" y="1969025"/>
            <a:ext cx="6276385" cy="2707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Boss "Bringer Of Death":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 hình đa giai đoạn (Phase 1: Normal, Phase 2: Enraged &lt; 50% HP).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 kế Màn chơi: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 trúc: Tutorial -&gt; Khám phá -&gt; Thử thách -&gt; Boss.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 thuật: Tilemap đa lớp, Parallax Scrolling (Cuộn cảnh thị sai).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D8CAE-3EAE-FB10-A6F6-5E0FC9D71401}"/>
              </a:ext>
            </a:extLst>
          </p:cNvPr>
          <p:cNvSpPr/>
          <p:nvPr/>
        </p:nvSpPr>
        <p:spPr>
          <a:xfrm>
            <a:off x="-2010290" y="1972013"/>
            <a:ext cx="2756943" cy="3167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5EA4B-7EDE-29A7-C992-2358DE87E82C}"/>
              </a:ext>
            </a:extLst>
          </p:cNvPr>
          <p:cNvSpPr txBox="1"/>
          <p:nvPr/>
        </p:nvSpPr>
        <p:spPr>
          <a:xfrm>
            <a:off x="-7347509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B49A4-C050-BF8D-8080-A9EC3CFA04F5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 KẾ HỆ THỐNG NHÂN VẬT (FSM)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5689396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7" y="2306245"/>
            <a:ext cx="5747174" cy="196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 trạng thái: Grounded (Đất), Airborne (Không trung), Combat (Chiến đấu).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 lý Input: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Buffer (0.15s): Lưu lệnh nhấn sớm.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Coyote Time: Hỗ trợ nhảy mép vực.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A4912-C831-1211-9BB3-1BA9AA047EAD}"/>
              </a:ext>
            </a:extLst>
          </p:cNvPr>
          <p:cNvSpPr txBox="1"/>
          <p:nvPr/>
        </p:nvSpPr>
        <p:spPr>
          <a:xfrm flipH="1">
            <a:off x="3766933" y="32947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3: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PHÂN TÍCH VÀ THIẾT KẾ HỆ THỐNG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7525E7-CD89-55C9-515D-62A0539460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266" y="1695543"/>
            <a:ext cx="3982720" cy="323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45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EFA5BF4-F495-5F8C-0D23-3234A7E89F08}"/>
              </a:ext>
            </a:extLst>
          </p:cNvPr>
          <p:cNvSpPr txBox="1"/>
          <p:nvPr/>
        </p:nvSpPr>
        <p:spPr>
          <a:xfrm>
            <a:off x="-4995150" y="2286995"/>
            <a:ext cx="4807378" cy="260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 lý 2D: Raycasting (Ground Check), Physics Material (Ma sát = 0).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 liệu: Scriptable Objects (Lưu chỉ số Skill, Monster).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 họa: Pixel Art chuẩn PPU, Filter Mode: Point.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Tối ưu: Addressables (Tải bất đồng bộ).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33C7D7-2290-9858-F2DF-11B5A2B6D38F}"/>
              </a:ext>
            </a:extLst>
          </p:cNvPr>
          <p:cNvSpPr/>
          <p:nvPr/>
        </p:nvSpPr>
        <p:spPr>
          <a:xfrm>
            <a:off x="-2010290" y="19720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5192E-45C3-D47B-0DA2-DA886CAC5A64}"/>
              </a:ext>
            </a:extLst>
          </p:cNvPr>
          <p:cNvSpPr txBox="1"/>
          <p:nvPr/>
        </p:nvSpPr>
        <p:spPr>
          <a:xfrm>
            <a:off x="6554805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PLAYER CONTROLLER (VẬT LÝ &amp; DI CHUYỂN)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9A9AFC-3F47-5D6B-1EE2-080E84432E11}"/>
              </a:ext>
            </a:extLst>
          </p:cNvPr>
          <p:cNvSpPr/>
          <p:nvPr/>
        </p:nvSpPr>
        <p:spPr>
          <a:xfrm>
            <a:off x="6519493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5EA4B-7EDE-29A7-C992-2358DE87E82C}"/>
              </a:ext>
            </a:extLst>
          </p:cNvPr>
          <p:cNvSpPr txBox="1"/>
          <p:nvPr/>
        </p:nvSpPr>
        <p:spPr>
          <a:xfrm>
            <a:off x="-7347509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B49A4-C050-BF8D-8080-A9EC3CFA04F5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THIẾT KẾ AI VÀ MÔI TRƯỜNG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4640241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6" y="1969025"/>
            <a:ext cx="6276385" cy="2707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Boss "Bringer Of Death":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 hình đa giai đoạn (Phase 1: Normal, Phase 2: Enraged &lt; 50% HP).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 kế Màn chơi: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 trúc: Tutorial -&gt; Khám phá -&gt; Thử thách -&gt; Boss.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 thuật: Tilemap đa lớp, Parallax Scrolling (Cuộn cảnh thị sai).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31678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A4912-C831-1211-9BB3-1BA9AA047EAD}"/>
              </a:ext>
            </a:extLst>
          </p:cNvPr>
          <p:cNvSpPr txBox="1"/>
          <p:nvPr/>
        </p:nvSpPr>
        <p:spPr>
          <a:xfrm flipH="1">
            <a:off x="3766933" y="32947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CHƯƠNG 3: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#9Slide03 Roboto Condensed Ligh" panose="020B0604020202020204" charset="0"/>
                <a:cs typeface="Arial" panose="020B0604020202020204" pitchFamily="34" charset="0"/>
              </a:rPr>
              <a:t>PHÂN TÍCH VÀ THIẾT KẾ HỆ THỐNG</a:t>
            </a:r>
            <a:endParaRPr lang="en-US" sz="2400">
              <a:solidFill>
                <a:schemeClr val="tx1"/>
              </a:solidFill>
              <a:latin typeface="+mj-lt"/>
              <a:ea typeface="#9Slide03 Roboto Condensed Ligh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331F49-5E8D-8371-DFA8-74F1BA4BA0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113" y="864306"/>
            <a:ext cx="2552636" cy="505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896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5CD59F3-C64D-4911-D62E-453E3A4BF874}"/>
              </a:ext>
            </a:extLst>
          </p:cNvPr>
          <p:cNvSpPr txBox="1"/>
          <p:nvPr/>
        </p:nvSpPr>
        <p:spPr>
          <a:xfrm>
            <a:off x="-7077956" y="2439395"/>
            <a:ext cx="6479827" cy="13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 tâm: GameManager điều phối.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 lý: EnemyManager, UIManager, PlayerController.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Luồng dữ liệu: Giao tiếp qua Events.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203C2C-F8A3-F0B9-56F2-63125C497E81}"/>
              </a:ext>
            </a:extLst>
          </p:cNvPr>
          <p:cNvSpPr/>
          <p:nvPr/>
        </p:nvSpPr>
        <p:spPr>
          <a:xfrm>
            <a:off x="-1857890" y="21244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5EA4B-7EDE-29A7-C992-2358DE87E82C}"/>
              </a:ext>
            </a:extLst>
          </p:cNvPr>
          <p:cNvSpPr txBox="1"/>
          <p:nvPr/>
        </p:nvSpPr>
        <p:spPr>
          <a:xfrm>
            <a:off x="-7347509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B49A4-C050-BF8D-8080-A9EC3CFA04F5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PLAYER CONTROLLER (VẬT LÝ &amp; DI CHUYỂN)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6351051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E421E1-2B82-8744-C941-52390225FEAF}"/>
              </a:ext>
            </a:extLst>
          </p:cNvPr>
          <p:cNvSpPr txBox="1"/>
          <p:nvPr/>
        </p:nvSpPr>
        <p:spPr>
          <a:xfrm>
            <a:off x="6714596" y="2241088"/>
            <a:ext cx="4804788" cy="2507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Hitbox: Sử dụng Animation Events (Kích hoạt tại khung hình tấn công) -&gt; Chính xác tuyệt đối.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 System: Data-driven (Dữ liệu skill nằm trong ScriptableObject).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Phản hồi: VFX (Particle), SFX (Âm thanh), TextMeshPro (Damage Popup).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B748E5-1514-BBD9-C4F1-FCF615645FE4}"/>
              </a:ext>
            </a:extLst>
          </p:cNvPr>
          <p:cNvCxnSpPr>
            <a:cxnSpLocks/>
          </p:cNvCxnSpPr>
          <p:nvPr/>
        </p:nvCxnSpPr>
        <p:spPr>
          <a:xfrm>
            <a:off x="6476210" y="1365250"/>
            <a:ext cx="7690" cy="3939734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7" y="2286995"/>
            <a:ext cx="4807378" cy="260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 lý 2D: Raycasting (Ground Check), Physics Material (Ma sát = 0).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 liệu: Scriptable Objects (Lưu chỉ số Skill, Monster).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 họa: Pixel Art chuẩn PPU, Filter Mode: Point.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Tối ưu: Addressables (Tải bất đồng bộ).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8" y="1281994"/>
            <a:ext cx="11370300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AF6D51-2060-E2D0-9BE2-5BFF8E30DE2D}"/>
              </a:ext>
            </a:extLst>
          </p:cNvPr>
          <p:cNvSpPr txBox="1"/>
          <p:nvPr/>
        </p:nvSpPr>
        <p:spPr>
          <a:xfrm>
            <a:off x="6551816" y="154384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 THỐNG CHIẾN ĐẤU (COMBAT SYSTEM)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B7AE5-C264-DCAC-B082-B31E807D8DEC}"/>
              </a:ext>
            </a:extLst>
          </p:cNvPr>
          <p:cNvSpPr txBox="1"/>
          <p:nvPr/>
        </p:nvSpPr>
        <p:spPr>
          <a:xfrm flipH="1">
            <a:off x="4032822" y="347684"/>
            <a:ext cx="8031782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1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4: </a:t>
            </a:r>
            <a:r>
              <a:rPr lang="en-US" sz="2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 THỰC HÓA &amp; GIẢI PHÁP KỸ THUẬT</a:t>
            </a:r>
            <a:endParaRPr lang="en-US" sz="2100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717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D8ACD832-68CF-6D99-5F9A-E38894397AB0}"/>
              </a:ext>
            </a:extLst>
          </p:cNvPr>
          <p:cNvSpPr txBox="1"/>
          <p:nvPr/>
        </p:nvSpPr>
        <p:spPr>
          <a:xfrm>
            <a:off x="207898" y="2241088"/>
            <a:ext cx="4804788" cy="218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Pooling: Tái sử dụng đạn, hiệu ứng nổ (Tránh Instantiate/Destroy liên tục).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Addressables: Quản lý nạp/xả bộ nhớ tài nguyên nặng.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Physics: Composite Collider (Gộp collider màn chơi).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697099-E1CA-5F4E-3964-67A095228808}"/>
              </a:ext>
            </a:extLst>
          </p:cNvPr>
          <p:cNvSpPr/>
          <p:nvPr/>
        </p:nvSpPr>
        <p:spPr>
          <a:xfrm>
            <a:off x="2535950" y="1972013"/>
            <a:ext cx="4223483" cy="3101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F7C576-2B39-2B3E-31F5-910B1D953ABD}"/>
              </a:ext>
            </a:extLst>
          </p:cNvPr>
          <p:cNvSpPr txBox="1"/>
          <p:nvPr/>
        </p:nvSpPr>
        <p:spPr>
          <a:xfrm>
            <a:off x="5521853" y="1553016"/>
            <a:ext cx="4275860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 THỰC AI (BOSS AI)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427461-ED01-2F7D-6EE3-A83626CEA32D}"/>
              </a:ext>
            </a:extLst>
          </p:cNvPr>
          <p:cNvSpPr/>
          <p:nvPr/>
        </p:nvSpPr>
        <p:spPr>
          <a:xfrm>
            <a:off x="3887251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8C4D06-C0E0-A41A-348B-B261E3928417}"/>
              </a:ext>
            </a:extLst>
          </p:cNvPr>
          <p:cNvSpPr txBox="1"/>
          <p:nvPr/>
        </p:nvSpPr>
        <p:spPr>
          <a:xfrm>
            <a:off x="11999731" y="154384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TỐI ƯU HÓA HIỆU NĂNG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E2D0ED-F182-B7FA-18DE-CAE9D1B4E1BA}"/>
              </a:ext>
            </a:extLst>
          </p:cNvPr>
          <p:cNvSpPr/>
          <p:nvPr/>
        </p:nvSpPr>
        <p:spPr>
          <a:xfrm>
            <a:off x="9933272" y="1543846"/>
            <a:ext cx="4032985" cy="428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A69F57-3ACB-A747-5F8F-8C4FEBA243EC}"/>
              </a:ext>
            </a:extLst>
          </p:cNvPr>
          <p:cNvSpPr txBox="1"/>
          <p:nvPr/>
        </p:nvSpPr>
        <p:spPr>
          <a:xfrm>
            <a:off x="-6071046" y="2064745"/>
            <a:ext cx="4807378" cy="3025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 trúc phân tầng: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AutoSetupBossAI: Tự động gán component (Dependency Injection).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BossLearningAI: Quản lý trạng thái (Blackboard).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AIDecisionMaker: Ra quyết định.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 Phase: Sự kiện OnHealthChanged kích hoạt Enraged Mode.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5BCFCB-CDC8-AF8A-E01B-B4614BF21767}"/>
              </a:ext>
            </a:extLst>
          </p:cNvPr>
          <p:cNvSpPr/>
          <p:nvPr/>
        </p:nvSpPr>
        <p:spPr>
          <a:xfrm>
            <a:off x="-2010290" y="1972013"/>
            <a:ext cx="2756943" cy="3118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0B7AE5-C264-DCAC-B082-B31E807D8DEC}"/>
              </a:ext>
            </a:extLst>
          </p:cNvPr>
          <p:cNvSpPr txBox="1"/>
          <p:nvPr/>
        </p:nvSpPr>
        <p:spPr>
          <a:xfrm flipH="1">
            <a:off x="4032822" y="347684"/>
            <a:ext cx="8031782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1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4: </a:t>
            </a:r>
            <a:r>
              <a:rPr lang="en-US" sz="2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 THỰC HÓA &amp; GIẢI PHÁP KỸ THUẬT</a:t>
            </a:r>
            <a:endParaRPr lang="en-US" sz="2100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A8914-7E6D-3B4F-99B9-88EFC840B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13466"/>
            <a:ext cx="12192000" cy="383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16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8C4F67F-A2B8-F073-44FD-B88D6BF50ED0}"/>
              </a:ext>
            </a:extLst>
          </p:cNvPr>
          <p:cNvSpPr txBox="1"/>
          <p:nvPr/>
        </p:nvSpPr>
        <p:spPr>
          <a:xfrm>
            <a:off x="-5380162" y="2306245"/>
            <a:ext cx="5258224" cy="20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Authentication: Đăng nhập Google (Federated Identity).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Realtime Database: Cấu trúc JSON theo UID.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Security: Rules chỉ cho phép User đọc/ghi dữ liệu của chính mình.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876424-D8A0-2952-5EF0-4699F17E9138}"/>
              </a:ext>
            </a:extLst>
          </p:cNvPr>
          <p:cNvSpPr/>
          <p:nvPr/>
        </p:nvSpPr>
        <p:spPr>
          <a:xfrm>
            <a:off x="-1857890" y="21244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CD59F3-C64D-4911-D62E-453E3A4BF874}"/>
              </a:ext>
            </a:extLst>
          </p:cNvPr>
          <p:cNvSpPr txBox="1"/>
          <p:nvPr/>
        </p:nvSpPr>
        <p:spPr>
          <a:xfrm>
            <a:off x="-7077956" y="2439395"/>
            <a:ext cx="6479827" cy="13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 tâm: GameManager điều phối.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 lý: EnemyManager, UIManager, PlayerController.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Luồng dữ liệu: Giao tiếp qua Events.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203C2C-F8A3-F0B9-56F2-63125C497E81}"/>
              </a:ext>
            </a:extLst>
          </p:cNvPr>
          <p:cNvSpPr/>
          <p:nvPr/>
        </p:nvSpPr>
        <p:spPr>
          <a:xfrm>
            <a:off x="-1857890" y="21244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5EA4B-7EDE-29A7-C992-2358DE87E82C}"/>
              </a:ext>
            </a:extLst>
          </p:cNvPr>
          <p:cNvSpPr txBox="1"/>
          <p:nvPr/>
        </p:nvSpPr>
        <p:spPr>
          <a:xfrm>
            <a:off x="-7347509" y="2080702"/>
            <a:ext cx="7062154" cy="2809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Unity Architecture: Entity-Component-System (ECS) thay vì Kế thừa sâu.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Vòng đời Script: Awake (Injection) -&gt; Start -&gt; Update (Input) -&gt; FixedUpdate (Physics).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Patterns: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Singleton: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GameManager, AudioManager.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FSM (Máy trạng thái):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Quản lý hành vi AI &amp; Player.</a:t>
            </a:r>
            <a:endParaRPr lang="vi-VN" kern="1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i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Observer:</a:t>
            </a: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Giao tiếp lỏng (Loose Coupling) giữa Player và UI.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B49A4-C050-BF8D-8080-A9EC3CFA04F5}"/>
              </a:ext>
            </a:extLst>
          </p:cNvPr>
          <p:cNvSpPr/>
          <p:nvPr/>
        </p:nvSpPr>
        <p:spPr>
          <a:xfrm>
            <a:off x="-2010290" y="1972013"/>
            <a:ext cx="2756943" cy="2939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4275860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 THỰC AI (BOSS AI)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3887251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E421E1-2B82-8744-C941-52390225FEAF}"/>
              </a:ext>
            </a:extLst>
          </p:cNvPr>
          <p:cNvSpPr txBox="1"/>
          <p:nvPr/>
        </p:nvSpPr>
        <p:spPr>
          <a:xfrm>
            <a:off x="6714596" y="2241088"/>
            <a:ext cx="4804788" cy="218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 Pooling: Tái sử dụng đạn, hiệu ứng nổ (Tránh Instantiate/Destroy liên tục).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Addressables: Quản lý nạp/xả bộ nhớ tài nguyên nặng.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Physics: Composite Collider (Gộp collider màn chơi).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ED22F-3302-28D5-7272-68FC82B63053}"/>
              </a:ext>
            </a:extLst>
          </p:cNvPr>
          <p:cNvSpPr/>
          <p:nvPr/>
        </p:nvSpPr>
        <p:spPr>
          <a:xfrm>
            <a:off x="2535950" y="1972013"/>
            <a:ext cx="4223483" cy="3101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B748E5-1514-BBD9-C4F1-FCF615645FE4}"/>
              </a:ext>
            </a:extLst>
          </p:cNvPr>
          <p:cNvCxnSpPr>
            <a:cxnSpLocks/>
          </p:cNvCxnSpPr>
          <p:nvPr/>
        </p:nvCxnSpPr>
        <p:spPr>
          <a:xfrm>
            <a:off x="6061343" y="1365250"/>
            <a:ext cx="7690" cy="3939734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7" y="2064745"/>
            <a:ext cx="4807378" cy="3025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 trúc phân tầng: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AutoSetupBossAI: Tự động gán component (Dependency Injection).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BossLearningAI: Quản lý trạng thái (Blackboard).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AIDecisionMaker: Ra quyết định.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 Phase: Sự kiện OnHealthChanged kích hoạt Enraged Mode.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3118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AF6D51-2060-E2D0-9BE2-5BFF8E30DE2D}"/>
              </a:ext>
            </a:extLst>
          </p:cNvPr>
          <p:cNvSpPr txBox="1"/>
          <p:nvPr/>
        </p:nvSpPr>
        <p:spPr>
          <a:xfrm>
            <a:off x="6551816" y="154384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TỐI ƯU HÓA HIỆU NĂNG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7751B4-6B25-9429-6072-4916B5BAC17B}"/>
              </a:ext>
            </a:extLst>
          </p:cNvPr>
          <p:cNvSpPr/>
          <p:nvPr/>
        </p:nvSpPr>
        <p:spPr>
          <a:xfrm>
            <a:off x="9933272" y="1543846"/>
            <a:ext cx="4032985" cy="428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B7AE5-C264-DCAC-B082-B31E807D8DEC}"/>
              </a:ext>
            </a:extLst>
          </p:cNvPr>
          <p:cNvSpPr txBox="1"/>
          <p:nvPr/>
        </p:nvSpPr>
        <p:spPr>
          <a:xfrm flipH="1">
            <a:off x="4032822" y="347684"/>
            <a:ext cx="8031782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1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4: </a:t>
            </a:r>
            <a:r>
              <a:rPr lang="en-US" sz="2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 THỰC HÓA &amp; GIẢI PHÁP KỸ THUẬT</a:t>
            </a:r>
            <a:endParaRPr lang="en-US" sz="2100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8" y="1281994"/>
            <a:ext cx="11370300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232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837777" y="2306245"/>
            <a:ext cx="5258224" cy="20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Authentication: Đăng nhập Google (Federated Identity).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Realtime Database: Cấu trúc JSON theo UID.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Security: Rules chỉ cho phép User đọc/ghi dữ liệu của chính mình.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895C8-4E40-F048-7CB1-66E8149E67B2}"/>
              </a:ext>
            </a:extLst>
          </p:cNvPr>
          <p:cNvSpPr/>
          <p:nvPr/>
        </p:nvSpPr>
        <p:spPr>
          <a:xfrm>
            <a:off x="-1857890" y="21244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0505B-9E45-5283-4E70-18B47559686D}"/>
              </a:ext>
            </a:extLst>
          </p:cNvPr>
          <p:cNvSpPr txBox="1"/>
          <p:nvPr/>
        </p:nvSpPr>
        <p:spPr>
          <a:xfrm>
            <a:off x="70543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 KẾ HỆ THỐNG NHÂN VẬT (FSM)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0B8E1-D2A6-F79E-E043-6CDCF1BA5B83}"/>
              </a:ext>
            </a:extLst>
          </p:cNvPr>
          <p:cNvSpPr/>
          <p:nvPr/>
        </p:nvSpPr>
        <p:spPr>
          <a:xfrm>
            <a:off x="5689396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 HỢP FIREBASE (BACKEND)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5071330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E942CB-38B9-44B8-1ED8-2EEE3967BC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0020" b="38620"/>
          <a:stretch/>
        </p:blipFill>
        <p:spPr>
          <a:xfrm>
            <a:off x="6458735" y="1822792"/>
            <a:ext cx="4412277" cy="31216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B56705-4956-3B2E-F9B7-396D6B347C8C}"/>
              </a:ext>
            </a:extLst>
          </p:cNvPr>
          <p:cNvSpPr txBox="1"/>
          <p:nvPr/>
        </p:nvSpPr>
        <p:spPr>
          <a:xfrm flipH="1">
            <a:off x="4032822" y="347684"/>
            <a:ext cx="8031782" cy="290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1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4: </a:t>
            </a:r>
            <a:r>
              <a:rPr lang="en-US" sz="21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 THỰC HÓA &amp; GIẢI PHÁP KỸ THUẬT</a:t>
            </a:r>
            <a:endParaRPr lang="en-US" sz="2100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369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11232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C1D581-6631-0BD3-A81A-15FD2F2810B4}"/>
              </a:ext>
            </a:extLst>
          </p:cNvPr>
          <p:cNvSpPr txBox="1"/>
          <p:nvPr/>
        </p:nvSpPr>
        <p:spPr>
          <a:xfrm>
            <a:off x="450623" y="2176027"/>
            <a:ext cx="2492219" cy="208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 Settings: PPU đồng nhất, Nén RGBA 32bit.</a:t>
            </a:r>
            <a:r>
              <a:rPr lang="vi-VN" kern="1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Tilemap: Sử dụng Rule Tiles tự động nối gạch.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895C8-4E40-F048-7CB1-66E8149E67B2}"/>
              </a:ext>
            </a:extLst>
          </p:cNvPr>
          <p:cNvSpPr/>
          <p:nvPr/>
        </p:nvSpPr>
        <p:spPr>
          <a:xfrm>
            <a:off x="-1857890" y="2124413"/>
            <a:ext cx="2756943" cy="294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10505B-9E45-5283-4E70-18B47559686D}"/>
              </a:ext>
            </a:extLst>
          </p:cNvPr>
          <p:cNvSpPr txBox="1"/>
          <p:nvPr/>
        </p:nvSpPr>
        <p:spPr>
          <a:xfrm>
            <a:off x="70543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18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 KẾ HỆ THỐNG NHÂN VẬT (FSM)</a:t>
            </a:r>
            <a:endParaRPr lang="vi-VN" b="1" kern="10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0B8E1-D2A6-F79E-E043-6CDCF1BA5B83}"/>
              </a:ext>
            </a:extLst>
          </p:cNvPr>
          <p:cNvSpPr/>
          <p:nvPr/>
        </p:nvSpPr>
        <p:spPr>
          <a:xfrm>
            <a:off x="5689396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2DF23-68DE-1A61-106E-929ADC1E9217}"/>
              </a:ext>
            </a:extLst>
          </p:cNvPr>
          <p:cNvSpPr txBox="1"/>
          <p:nvPr/>
        </p:nvSpPr>
        <p:spPr>
          <a:xfrm>
            <a:off x="6190737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en-US" sz="1800" b="1">
                <a:solidFill>
                  <a:srgbClr val="112C9F"/>
                </a:solidFill>
                <a:effectLst/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KIẾN TRÚC UNITY &amp; DESIGN PATTERNS</a:t>
            </a:r>
            <a:endParaRPr lang="vi-VN" b="1" kern="100">
              <a:solidFill>
                <a:srgbClr val="112C9F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392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b="1" kern="100" dirty="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PIPELINE ĐỒ HỌA &amp; MÀN CHƠI</a:t>
            </a:r>
            <a:endParaRPr lang="vi-VN" b="1" kern="100" dirty="0">
              <a:solidFill>
                <a:srgbClr val="112C9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5071330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33AA5-5650-AEAF-1B4D-AF0FA76293CF}"/>
              </a:ext>
            </a:extLst>
          </p:cNvPr>
          <p:cNvSpPr txBox="1"/>
          <p:nvPr/>
        </p:nvSpPr>
        <p:spPr>
          <a:xfrm flipH="1">
            <a:off x="6564355" y="357614"/>
            <a:ext cx="8031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5: </a:t>
            </a:r>
            <a:r>
              <a:rPr lang="en-US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 QUẢ &amp; TRIỂN KHAI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4CE2AF-FB42-B88C-ECA0-E1B53B71CD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334" b="6740"/>
          <a:stretch/>
        </p:blipFill>
        <p:spPr>
          <a:xfrm>
            <a:off x="3417005" y="2124413"/>
            <a:ext cx="6844645" cy="287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98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8FB99B-A8F5-0A73-8984-EC3E9BAC1383}"/>
              </a:ext>
            </a:extLst>
          </p:cNvPr>
          <p:cNvSpPr txBox="1"/>
          <p:nvPr/>
        </p:nvSpPr>
        <p:spPr>
          <a:xfrm>
            <a:off x="-3353721" y="2080702"/>
            <a:ext cx="2965365" cy="176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HUD: Thanh Máu, Mana, Skill Cooldown.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Controls: Di chuyển, Nhảy đôi, Lướt (Dash), Combo, Skill.</a:t>
            </a:r>
            <a:endParaRPr lang="en-US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E58437-E5E0-670A-A5AE-6EE48D255C8C}"/>
              </a:ext>
            </a:extLst>
          </p:cNvPr>
          <p:cNvSpPr/>
          <p:nvPr/>
        </p:nvSpPr>
        <p:spPr>
          <a:xfrm>
            <a:off x="-2010290" y="19720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11232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633AA5-5650-AEAF-1B4D-AF0FA76293CF}"/>
              </a:ext>
            </a:extLst>
          </p:cNvPr>
          <p:cNvSpPr txBox="1"/>
          <p:nvPr/>
        </p:nvSpPr>
        <p:spPr>
          <a:xfrm flipH="1">
            <a:off x="6564355" y="357614"/>
            <a:ext cx="803178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5: </a:t>
            </a:r>
            <a:r>
              <a:rPr lang="en-US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 QUẢ &amp; TRIỂN KHAI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CE4893-3462-9898-3ED0-1EFB161DD7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81" y="1536783"/>
            <a:ext cx="11555438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56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9C28347-C4D8-9889-1C26-67CF80938BE2}"/>
              </a:ext>
            </a:extLst>
          </p:cNvPr>
          <p:cNvSpPr txBox="1"/>
          <p:nvPr/>
        </p:nvSpPr>
        <p:spPr>
          <a:xfrm>
            <a:off x="-8803782" y="2520971"/>
            <a:ext cx="8981548" cy="1859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đoạn: Khởi đầu (Tutorial) -&gt; Khám phá (Quái thường) -&gt; Thử thách (Quái khó) -&gt; Boss Fight.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Cloud Save: Lưu vị trí, HP, Mana lên Firebase -&gt; Load lại khi chết hoặc đổi máy.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46413-EC61-9945-2687-3314E8310895}"/>
              </a:ext>
            </a:extLst>
          </p:cNvPr>
          <p:cNvSpPr/>
          <p:nvPr/>
        </p:nvSpPr>
        <p:spPr>
          <a:xfrm>
            <a:off x="-1857890" y="21244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A9956-85E9-3C76-6BD3-EE923E786010}"/>
              </a:ext>
            </a:extLst>
          </p:cNvPr>
          <p:cNvSpPr txBox="1"/>
          <p:nvPr/>
        </p:nvSpPr>
        <p:spPr>
          <a:xfrm>
            <a:off x="4036896" y="17054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vi-VN" sz="1800" b="1" i="0" u="none" strike="noStrike" kern="100" cap="none" spc="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MỤC TIÊU VÀ PHẠM VI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B09EB9-90E5-01D7-7E8C-9AF2A068AFFB}"/>
              </a:ext>
            </a:extLst>
          </p:cNvPr>
          <p:cNvSpPr/>
          <p:nvPr/>
        </p:nvSpPr>
        <p:spPr>
          <a:xfrm>
            <a:off x="3847314" y="16702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DEDED2-9EAA-9AAD-A88B-D272FBCC082E}"/>
              </a:ext>
            </a:extLst>
          </p:cNvPr>
          <p:cNvSpPr txBox="1"/>
          <p:nvPr/>
        </p:nvSpPr>
        <p:spPr>
          <a:xfrm>
            <a:off x="-5190510" y="2439395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Mục tiêu kỹ thuật: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Kiến trúc Modular, Clean Code (SOLID).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AI thông minh (FSM), Boss đa giai đoạn.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Game Feel tối ưu (Coyote Time, Input Buffer).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998FBE-7FC0-E7FA-3597-7B44D435719C}"/>
              </a:ext>
            </a:extLst>
          </p:cNvPr>
          <p:cNvSpPr/>
          <p:nvPr/>
        </p:nvSpPr>
        <p:spPr>
          <a:xfrm>
            <a:off x="-1857890" y="21244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A8C0F-2680-6FDE-9B95-03217133CDE6}"/>
              </a:ext>
            </a:extLst>
          </p:cNvPr>
          <p:cNvSpPr txBox="1"/>
          <p:nvPr/>
        </p:nvSpPr>
        <p:spPr>
          <a:xfrm>
            <a:off x="1373697" y="2286994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Phạm vi hiện thực: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Core Gameplay: Combo, Dash (i-frame), Nhảy đôi.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Môi trường: 4 lớp Parallax, Tilemap.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AI: Quái bay, Quái bộ, Boss Fight.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A9EC41-B3B8-8069-A5E2-B6153E30D5F5}"/>
              </a:ext>
            </a:extLst>
          </p:cNvPr>
          <p:cNvSpPr/>
          <p:nvPr/>
        </p:nvSpPr>
        <p:spPr>
          <a:xfrm>
            <a:off x="1549400" y="1936839"/>
            <a:ext cx="4514851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151DA-F2C9-94EF-2B45-D323134463BF}"/>
              </a:ext>
            </a:extLst>
          </p:cNvPr>
          <p:cNvSpPr txBox="1"/>
          <p:nvPr/>
        </p:nvSpPr>
        <p:spPr>
          <a:xfrm>
            <a:off x="746652" y="2080702"/>
            <a:ext cx="2965365" cy="19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HUD: Thanh Máu, Mana, Skill Cooldown.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Controls: Di chuyển, Nhảy đôi, Lướt (Dash), Combo, Skill.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vi-VN" sz="2000" b="1" i="0" u="none" strike="noStrike" kern="100" cap="none" spc="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20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 DIỆN &amp; ĐIỀU KHIỂN</a:t>
            </a:r>
            <a:endParaRPr kumimoji="0" lang="vi-VN" sz="2000" b="1" i="0" u="none" strike="noStrike" kern="100" cap="none" spc="0" normalizeH="0" baseline="0" noProof="0">
              <a:ln>
                <a:noFill/>
              </a:ln>
              <a:solidFill>
                <a:srgbClr val="112C9F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6476620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43E62-F551-1521-CBAE-048BA4FA3A71}"/>
              </a:ext>
            </a:extLst>
          </p:cNvPr>
          <p:cNvSpPr txBox="1"/>
          <p:nvPr/>
        </p:nvSpPr>
        <p:spPr>
          <a:xfrm flipH="1">
            <a:off x="6096000" y="38422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6: </a:t>
            </a: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 &amp; HƯỚNG DẪN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FC91F-8B8E-30EC-A1DC-C6058A6064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313" r="7868" b="16261"/>
          <a:stretch/>
        </p:blipFill>
        <p:spPr>
          <a:xfrm>
            <a:off x="3926874" y="2019012"/>
            <a:ext cx="6891430" cy="30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4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C2C0572-8843-9993-755A-3FF992AB8E8D}"/>
              </a:ext>
            </a:extLst>
          </p:cNvPr>
          <p:cNvSpPr txBox="1"/>
          <p:nvPr/>
        </p:nvSpPr>
        <p:spPr>
          <a:xfrm>
            <a:off x="8215881" y="1553016"/>
            <a:ext cx="7183966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sz="24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TỔNG KẾT &amp; HƯỚNG PHÁT TRIỂN</a:t>
            </a:r>
            <a:endParaRPr kumimoji="0" lang="vi-VN" sz="2800" b="1" i="0" u="none" strike="noStrike" kern="100" cap="none" spc="0" normalizeH="0" baseline="0" noProof="0">
              <a:ln>
                <a:noFill/>
              </a:ln>
              <a:solidFill>
                <a:srgbClr val="112C9F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466728-27AC-31EA-AAD6-EBF0F3ABB478}"/>
              </a:ext>
            </a:extLst>
          </p:cNvPr>
          <p:cNvSpPr/>
          <p:nvPr/>
        </p:nvSpPr>
        <p:spPr>
          <a:xfrm>
            <a:off x="6096000" y="158060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FBA69-6921-F3AB-0DCA-616360211BC7}"/>
              </a:ext>
            </a:extLst>
          </p:cNvPr>
          <p:cNvSpPr txBox="1"/>
          <p:nvPr/>
        </p:nvSpPr>
        <p:spPr>
          <a:xfrm>
            <a:off x="-10564855" y="2123033"/>
            <a:ext cx="10302348" cy="2910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 quả đạt được: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hoàn chỉnh (Vertical Slice).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 trúc code sạch, dễ bảo trì.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 hợp thành công Firebase &amp; Mobile.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 chế: Số lượng màn chơi ít, chưa có Shop.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 phát triển: Thêm Biomes, Multiplayer, Leaderboard, phát hành Google Play.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E6E25E-E23D-CCCA-7408-C8829333C72F}"/>
              </a:ext>
            </a:extLst>
          </p:cNvPr>
          <p:cNvSpPr/>
          <p:nvPr/>
        </p:nvSpPr>
        <p:spPr>
          <a:xfrm>
            <a:off x="-2046646" y="2092767"/>
            <a:ext cx="2756943" cy="3181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A9956-85E9-3C76-6BD3-EE923E786010}"/>
              </a:ext>
            </a:extLst>
          </p:cNvPr>
          <p:cNvSpPr txBox="1"/>
          <p:nvPr/>
        </p:nvSpPr>
        <p:spPr>
          <a:xfrm>
            <a:off x="4036896" y="17054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vi-VN" sz="1800" b="1" i="0" u="none" strike="noStrike" kern="100" cap="none" spc="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MỤC TIÊU VÀ PHẠM VI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B09EB9-90E5-01D7-7E8C-9AF2A068AFFB}"/>
              </a:ext>
            </a:extLst>
          </p:cNvPr>
          <p:cNvSpPr/>
          <p:nvPr/>
        </p:nvSpPr>
        <p:spPr>
          <a:xfrm>
            <a:off x="3847314" y="16702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DEDED2-9EAA-9AAD-A88B-D272FBCC082E}"/>
              </a:ext>
            </a:extLst>
          </p:cNvPr>
          <p:cNvSpPr txBox="1"/>
          <p:nvPr/>
        </p:nvSpPr>
        <p:spPr>
          <a:xfrm>
            <a:off x="-5190510" y="2439395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Mục tiêu kỹ thuật: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Kiến trúc Modular, Clean Code (SOLID).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AI thông minh (FSM), Boss đa giai đoạn.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Game Feel tối ưu (Coyote Time, Input Buffer).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998FBE-7FC0-E7FA-3597-7B44D435719C}"/>
              </a:ext>
            </a:extLst>
          </p:cNvPr>
          <p:cNvSpPr/>
          <p:nvPr/>
        </p:nvSpPr>
        <p:spPr>
          <a:xfrm>
            <a:off x="-1857890" y="21244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A8C0F-2680-6FDE-9B95-03217133CDE6}"/>
              </a:ext>
            </a:extLst>
          </p:cNvPr>
          <p:cNvSpPr txBox="1"/>
          <p:nvPr/>
        </p:nvSpPr>
        <p:spPr>
          <a:xfrm>
            <a:off x="1373697" y="2286994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Phạm vi hiện thực: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Core Gameplay: Combo, Dash (i-frame), Nhảy đôi.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Môi trường: 4 lớp Parallax, Tilemap.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AI: Quái bay, Quái bộ, Boss Fight.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A9EC41-B3B8-8069-A5E2-B6153E30D5F5}"/>
              </a:ext>
            </a:extLst>
          </p:cNvPr>
          <p:cNvSpPr/>
          <p:nvPr/>
        </p:nvSpPr>
        <p:spPr>
          <a:xfrm>
            <a:off x="1549400" y="1936839"/>
            <a:ext cx="4514851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151DA-F2C9-94EF-2B45-D323134463BF}"/>
              </a:ext>
            </a:extLst>
          </p:cNvPr>
          <p:cNvSpPr txBox="1"/>
          <p:nvPr/>
        </p:nvSpPr>
        <p:spPr>
          <a:xfrm>
            <a:off x="746652" y="2368571"/>
            <a:ext cx="8981548" cy="2064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Giai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đoạn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Khởi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(Tutorial) -&gt;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vi-V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-&gt;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thách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khó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-&gt; Boss Fight.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Cloud Save: Lưu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vị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HP, Mana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lên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Firebase</a:t>
            </a:r>
            <a:endParaRPr lang="vi-V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-&gt; Load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lại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chết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10290" y="19720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vi-VN" sz="2000" b="1" i="0" u="none" strike="noStrike" kern="100" cap="none" spc="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20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WALKTHROUGH (QUY TRÌNH TRẢI NGHIỆM)</a:t>
            </a:r>
            <a:endParaRPr kumimoji="0" lang="vi-VN" sz="2000" b="1" i="0" u="none" strike="noStrike" kern="100" cap="none" spc="0" normalizeH="0" baseline="0" noProof="0">
              <a:ln>
                <a:noFill/>
              </a:ln>
              <a:solidFill>
                <a:srgbClr val="112C9F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6842380" y="15178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1D9DDBA8-D589-4C4B-1053-444AACC4142E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05CAD-BB30-B01E-ABDC-E24AF9FADE8A}"/>
              </a:ext>
            </a:extLst>
          </p:cNvPr>
          <p:cNvSpPr txBox="1"/>
          <p:nvPr/>
        </p:nvSpPr>
        <p:spPr>
          <a:xfrm flipH="1">
            <a:off x="6096000" y="38422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6: </a:t>
            </a:r>
            <a:r>
              <a:rPr lang="en-US" sz="24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 &amp; HƯỚNG DẪN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3826ED-80C9-4568-FF9E-AB0E7A0BC3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152" y="2840210"/>
            <a:ext cx="4111431" cy="24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3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4DA9956-85E9-3C76-6BD3-EE923E786010}"/>
              </a:ext>
            </a:extLst>
          </p:cNvPr>
          <p:cNvSpPr txBox="1"/>
          <p:nvPr/>
        </p:nvSpPr>
        <p:spPr>
          <a:xfrm>
            <a:off x="4036896" y="1705416"/>
            <a:ext cx="718396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vi-VN" sz="1800" b="1" i="0" u="none" strike="noStrike" kern="100" cap="none" spc="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MỤC TIÊU VÀ PHẠM VI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B09EB9-90E5-01D7-7E8C-9AF2A068AFFB}"/>
              </a:ext>
            </a:extLst>
          </p:cNvPr>
          <p:cNvSpPr/>
          <p:nvPr/>
        </p:nvSpPr>
        <p:spPr>
          <a:xfrm>
            <a:off x="3847314" y="167024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DEDED2-9EAA-9AAD-A88B-D272FBCC082E}"/>
              </a:ext>
            </a:extLst>
          </p:cNvPr>
          <p:cNvSpPr txBox="1"/>
          <p:nvPr/>
        </p:nvSpPr>
        <p:spPr>
          <a:xfrm>
            <a:off x="-5190510" y="2439395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Mục tiêu kỹ thuật: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Kiến trúc Modular, Clean Code (SOLID).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AI thông minh (FSM), Boss đa giai đoạn.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Game Feel tối ưu (Coyote Time, Input Buffer).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998FBE-7FC0-E7FA-3597-7B44D435719C}"/>
              </a:ext>
            </a:extLst>
          </p:cNvPr>
          <p:cNvSpPr/>
          <p:nvPr/>
        </p:nvSpPr>
        <p:spPr>
          <a:xfrm>
            <a:off x="-1857890" y="2124413"/>
            <a:ext cx="2756943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A8C0F-2680-6FDE-9B95-03217133CDE6}"/>
              </a:ext>
            </a:extLst>
          </p:cNvPr>
          <p:cNvSpPr txBox="1"/>
          <p:nvPr/>
        </p:nvSpPr>
        <p:spPr>
          <a:xfrm>
            <a:off x="1373697" y="2286994"/>
            <a:ext cx="8188890" cy="16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Phạm vi hiện thực: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Core Gameplay: Combo, Dash (i-frame), Nhảy đôi.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Môi trường: 4 lớp Parallax, Tilemap.</a:t>
            </a:r>
            <a:endParaRPr kumimoji="0" lang="vi-V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Calibri" panose="020F0502020204030204" pitchFamily="34" charset="0"/>
                <a:cs typeface="Arial" panose="020B0604020202020204" pitchFamily="34" charset="0"/>
              </a:rPr>
              <a:t>AI: Quái bay, Quái bộ, Boss Fight.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A9EC41-B3B8-8069-A5E2-B6153E30D5F5}"/>
              </a:ext>
            </a:extLst>
          </p:cNvPr>
          <p:cNvSpPr/>
          <p:nvPr/>
        </p:nvSpPr>
        <p:spPr>
          <a:xfrm>
            <a:off x="1549400" y="1936839"/>
            <a:ext cx="4514851" cy="2491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C983EC-4E50-4388-5D95-EE7826EE33CA}"/>
              </a:ext>
            </a:extLst>
          </p:cNvPr>
          <p:cNvSpPr/>
          <p:nvPr/>
        </p:nvSpPr>
        <p:spPr>
          <a:xfrm>
            <a:off x="4650" y="-230318"/>
            <a:ext cx="12192000" cy="7088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151DA-F2C9-94EF-2B45-D323134463BF}"/>
              </a:ext>
            </a:extLst>
          </p:cNvPr>
          <p:cNvSpPr txBox="1"/>
          <p:nvPr/>
        </p:nvSpPr>
        <p:spPr>
          <a:xfrm>
            <a:off x="746652" y="2123033"/>
            <a:ext cx="10302348" cy="2910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 quả đạt được: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Game hoàn chỉnh (Vertical Slice).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Kiến trúc code sạch, dễ bảo trì.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 hợp thành công Firebase &amp; Mobile.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Hạn chế: Số lượng màn chơi ít, chưa có Shop.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200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 phát triển: Thêm Biomes, Multiplayer, Leaderboard, phát hành Google Play.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202FEF-7201-BE71-043B-48F90FAC0A16}"/>
              </a:ext>
            </a:extLst>
          </p:cNvPr>
          <p:cNvSpPr/>
          <p:nvPr/>
        </p:nvSpPr>
        <p:spPr>
          <a:xfrm>
            <a:off x="-2046646" y="2092767"/>
            <a:ext cx="2756943" cy="3181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D22A9-1038-5988-5BD3-7F5F35DA4F09}"/>
              </a:ext>
            </a:extLst>
          </p:cNvPr>
          <p:cNvSpPr txBox="1"/>
          <p:nvPr/>
        </p:nvSpPr>
        <p:spPr>
          <a:xfrm>
            <a:off x="746653" y="1553016"/>
            <a:ext cx="7183966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Tx/>
              <a:buNone/>
              <a:tabLst>
                <a:tab pos="457200" algn="l"/>
              </a:tabLst>
              <a:defRPr/>
            </a:pPr>
            <a:r>
              <a:rPr lang="en-US" sz="2400" b="1">
                <a:solidFill>
                  <a:srgbClr val="112C9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TỔNG KẾT &amp; HƯỚNG PHÁT TRIỂN</a:t>
            </a:r>
            <a:endParaRPr kumimoji="0" lang="vi-VN" sz="2800" b="1" i="0" u="none" strike="noStrike" kern="100" cap="none" spc="0" normalizeH="0" baseline="0" noProof="0">
              <a:ln>
                <a:noFill/>
              </a:ln>
              <a:solidFill>
                <a:srgbClr val="112C9F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C5B72-3AFD-3320-DEB3-D4E3ECA3CA9C}"/>
              </a:ext>
            </a:extLst>
          </p:cNvPr>
          <p:cNvSpPr/>
          <p:nvPr/>
        </p:nvSpPr>
        <p:spPr>
          <a:xfrm>
            <a:off x="6096000" y="1580602"/>
            <a:ext cx="9144509" cy="455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A6CDF-86CF-1123-B4EF-E5F3EEBB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207"/>
            <a:ext cx="12192000" cy="924793"/>
          </a:xfrm>
          <a:prstGeom prst="rect">
            <a:avLst/>
          </a:prstGeom>
        </p:spPr>
      </p:pic>
      <p:pic>
        <p:nvPicPr>
          <p:cNvPr id="1026" name="Picture 2" descr="Đăng nhập">
            <a:extLst>
              <a:ext uri="{FF2B5EF4-FFF2-40B4-BE49-F238E27FC236}">
                <a16:creationId xmlns:a16="http://schemas.microsoft.com/office/drawing/2014/main" id="{AA0848A5-96A4-F6C9-BAE6-C0DFC83F2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4" y="221394"/>
            <a:ext cx="2263774" cy="64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FF7F92-D673-7CA5-DD2C-520E97104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806" y="661877"/>
            <a:ext cx="3602567" cy="1557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F05CAD-BB30-B01E-ABDC-E24AF9FADE8A}"/>
              </a:ext>
            </a:extLst>
          </p:cNvPr>
          <p:cNvSpPr txBox="1"/>
          <p:nvPr/>
        </p:nvSpPr>
        <p:spPr>
          <a:xfrm flipH="1">
            <a:off x="7930619" y="323897"/>
            <a:ext cx="8031782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rgbClr val="112C9F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CHƯƠNG 7: </a:t>
            </a:r>
            <a:r>
              <a:rPr kumimoji="0" lang="vi-VN" sz="2400" b="1" i="0" u="none" strike="noStrike" kern="1200" cap="none" spc="6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#9Slide03 Roboto Condensed Ligh" panose="020B0604020202020204" charset="0"/>
                <a:cs typeface="Times New Roman" panose="02020603050405020304" pitchFamily="18" charset="0"/>
              </a:rPr>
              <a:t>KẾT LUẬN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ea typeface="#9Slide03 Roboto Condensed Ligh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2" name="Hình chữ nhật 4">
            <a:extLst>
              <a:ext uri="{FF2B5EF4-FFF2-40B4-BE49-F238E27FC236}">
                <a16:creationId xmlns:a16="http://schemas.microsoft.com/office/drawing/2014/main" id="{799B688C-47CE-8C7E-6D21-D5A913A371B7}"/>
              </a:ext>
            </a:extLst>
          </p:cNvPr>
          <p:cNvSpPr/>
          <p:nvPr/>
        </p:nvSpPr>
        <p:spPr>
          <a:xfrm>
            <a:off x="439899" y="1281994"/>
            <a:ext cx="10971474" cy="4022990"/>
          </a:xfrm>
          <a:prstGeom prst="rect">
            <a:avLst/>
          </a:prstGeom>
          <a:noFill/>
          <a:ln w="12700">
            <a:solidFill>
              <a:srgbClr val="112C9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A7118-6885-6587-FA6D-D0CC85CE057B}"/>
              </a:ext>
            </a:extLst>
          </p:cNvPr>
          <p:cNvSpPr txBox="1"/>
          <p:nvPr/>
        </p:nvSpPr>
        <p:spPr>
          <a:xfrm flipH="1">
            <a:off x="-7911625" y="2075068"/>
            <a:ext cx="11562471" cy="17292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4800" kern="100">
                <a:solidFill>
                  <a:srgbClr val="F8B31E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CẢM ƠN GVHD </a:t>
            </a:r>
            <a:endParaRPr lang="vi-VN" sz="4800" kern="100">
              <a:solidFill>
                <a:srgbClr val="F8B31E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4800" kern="100">
                <a:solidFill>
                  <a:srgbClr val="F8B31E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VÀ HỘI ĐỒNG</a:t>
            </a:r>
            <a:endParaRPr lang="vi-VN" sz="4800" kern="100">
              <a:solidFill>
                <a:srgbClr val="F8B31E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C5D322-7440-5FCD-8E8C-62AA61DCB895}"/>
              </a:ext>
            </a:extLst>
          </p:cNvPr>
          <p:cNvSpPr txBox="1"/>
          <p:nvPr/>
        </p:nvSpPr>
        <p:spPr>
          <a:xfrm flipH="1">
            <a:off x="-13754525" y="4081311"/>
            <a:ext cx="11562471" cy="1862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11500" kern="100">
                <a:solidFill>
                  <a:srgbClr val="F8B31E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&amp;QA</a:t>
            </a:r>
          </a:p>
        </p:txBody>
      </p:sp>
    </p:spTree>
    <p:extLst>
      <p:ext uri="{BB962C8B-B14F-4D97-AF65-F5344CB8AC3E}">
        <p14:creationId xmlns:p14="http://schemas.microsoft.com/office/powerpoint/2010/main" val="47242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5A150-516B-28B8-07AA-762E5FC8A21B}"/>
              </a:ext>
            </a:extLst>
          </p:cNvPr>
          <p:cNvSpPr txBox="1"/>
          <p:nvPr/>
        </p:nvSpPr>
        <p:spPr>
          <a:xfrm flipH="1">
            <a:off x="314764" y="2219181"/>
            <a:ext cx="11562471" cy="17292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spc="70">
                <a:solidFill>
                  <a:srgbClr val="00F2FE"/>
                </a:solidFill>
                <a:latin typeface="#9Slide03 FS Neusa Regular" panose="00000500000000000000" pitchFamily="2" charset="0"/>
                <a:ea typeface="#9Slide02 Noi dung rat dai" panose="02000000000000000000" pitchFamily="2" charset="0"/>
              </a:defRPr>
            </a:lvl1pPr>
          </a:lstStyle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vi-VN" sz="4800" kern="100" dirty="0">
                <a:solidFill>
                  <a:srgbClr val="F8B31E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THANK YOU</a:t>
            </a:r>
            <a:r>
              <a:rPr lang="en-US" sz="4800" kern="100" dirty="0">
                <a:solidFill>
                  <a:srgbClr val="F8B31E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4800" kern="100" dirty="0">
                <a:solidFill>
                  <a:srgbClr val="F8B31E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FOR LISTENING</a:t>
            </a:r>
            <a:endParaRPr lang="vi-VN" sz="4800" kern="100" dirty="0">
              <a:solidFill>
                <a:srgbClr val="F8B31E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62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</TotalTime>
  <Words>2965</Words>
  <Application>Microsoft Office PowerPoint</Application>
  <PresentationFormat>Widescreen</PresentationFormat>
  <Paragraphs>321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Aptos</vt:lpstr>
      <vt:lpstr>Aptos Display</vt:lpstr>
      <vt:lpstr>Arial</vt:lpstr>
      <vt:lpstr>Bahnschrift Condensed</vt:lpstr>
      <vt:lpstr>Bahnschrift SemiBold Condensed</vt:lpstr>
      <vt:lpstr>Bai Jamjuree</vt:lpstr>
      <vt:lpstr>Bai Jamjuree Medium</vt:lpstr>
      <vt:lpstr>Calibri</vt:lpstr>
      <vt:lpstr>Courier New</vt:lpstr>
      <vt:lpstr>iCiel Cadena</vt:lpstr>
      <vt:lpstr>SF Pro Display Medium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Huỳnh Phú Vinh</dc:creator>
  <cp:lastModifiedBy>Nhat Hoang</cp:lastModifiedBy>
  <cp:revision>16</cp:revision>
  <cp:lastPrinted>2025-11-21T02:35:42Z</cp:lastPrinted>
  <dcterms:created xsi:type="dcterms:W3CDTF">2025-11-21T01:36:52Z</dcterms:created>
  <dcterms:modified xsi:type="dcterms:W3CDTF">2025-12-16T16:41:50Z</dcterms:modified>
</cp:coreProperties>
</file>